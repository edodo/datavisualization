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80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oup Project Sample Presentation" id="{9A9B47E9-0AAC-4528-8BD7-07E5A07AEA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80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B46A9-AAF1-86A1-C21C-2F2DA3969EB7}" v="4" dt="2026-04-01T00:27:45.707"/>
    <p1510:client id="{82C9712C-8056-4DBF-9506-D94889D8EA49}" v="38" dt="2026-03-31T23:38:22.614"/>
    <p1510:client id="{A5D4216D-A18E-C067-6152-F396606EAB2F}" v="11" dt="2026-04-01T00:32:12.580"/>
    <p1510:client id="{B1D78529-A189-F19A-0586-1E0F9E1E1271}" v="128" dt="2026-04-01T06:44:29.978"/>
    <p1510:client id="{F5A093FE-C8F5-432F-814B-C8018DA44CC3}" v="13" dt="2026-04-01T00:30:45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43-49F9-A135-752A15933ADE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43-49F9-A135-752A15933AD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5163</c:v>
                </c:pt>
                <c:pt idx="1">
                  <c:v>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43-49F9-A135-752A15933A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1E-41FC-B07A-E83D9C901C8A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1E-41FC-B07A-E83D9C901C8A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1E-41FC-B07A-E83D9C901C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1E-41FC-B07A-E83D9C901C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Churn Rate Drops as Tenure Increases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0-12 months</c:v>
                </c:pt>
                <c:pt idx="1">
                  <c:v>13-24 months</c:v>
                </c:pt>
                <c:pt idx="2">
                  <c:v>25-48 months</c:v>
                </c:pt>
                <c:pt idx="3">
                  <c:v>49-72 months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27.8</c:v>
                </c:pt>
                <c:pt idx="2">
                  <c:v>19.600000000000001</c:v>
                </c:pt>
                <c:pt idx="3">
                  <c:v>9.1999999999999993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6B2-46EE-8705-2800E54B32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65-42A0-8087-027300BB84F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65-42A0-8087-027300BB84FF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65-42A0-8087-027300BB84FF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65-42A0-8087-027300BB84F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0-12 mo</c:v>
                </c:pt>
                <c:pt idx="1">
                  <c:v>13-24 mo</c:v>
                </c:pt>
                <c:pt idx="2">
                  <c:v>25-48 mo</c:v>
                </c:pt>
                <c:pt idx="3">
                  <c:v>49-72 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27.8</c:v>
                </c:pt>
                <c:pt idx="2">
                  <c:v>19.600000000000001</c:v>
                </c:pt>
                <c:pt idx="3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65-42A0-8087-027300BB84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Churn Rate by Internet Service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26-4024-854D-080CE84B6926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26-4024-854D-080CE84B6926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26-4024-854D-080CE84B69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Internet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19</c:v>
                </c:pt>
                <c:pt idx="2">
                  <c:v>41.9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26-4024-854D-080CE84B69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Churn Rate by Payment Method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03-4AE8-8604-2C9F852EEBBE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03-4AE8-8604-2C9F852EEBBE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03-4AE8-8604-2C9F852EEBBE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803-4AE8-8604-2C9F852EEB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
Check</c:v>
                </c:pt>
                <c:pt idx="1">
                  <c:v>Mailed
Check</c:v>
                </c:pt>
                <c:pt idx="2">
                  <c:v>Bank
Transfer</c:v>
                </c:pt>
                <c:pt idx="3">
                  <c:v>Credit
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19.100000000000001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03-4AE8-8604-2C9F852EEB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Value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Sheet1!$A$2:$A$9</c:f>
              <c:strCache>
                <c:ptCount val="8"/>
                <c:pt idx="0">
                  <c:v>GBM</c:v>
                </c:pt>
                <c:pt idx="1">
                  <c:v>LogisticRegression</c:v>
                </c:pt>
                <c:pt idx="2">
                  <c:v>XGBoost</c:v>
                </c:pt>
                <c:pt idx="3">
                  <c:v>RandomForest</c:v>
                </c:pt>
                <c:pt idx="4">
                  <c:v>SVM</c:v>
                </c:pt>
                <c:pt idx="5">
                  <c:v>KNN</c:v>
                </c:pt>
                <c:pt idx="6">
                  <c:v>DecisionTree</c:v>
                </c:pt>
                <c:pt idx="7">
                  <c:v>Naïve Bayes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0.84</c:v>
                </c:pt>
                <c:pt idx="1">
                  <c:v>0.83</c:v>
                </c:pt>
                <c:pt idx="2">
                  <c:v>0.81</c:v>
                </c:pt>
                <c:pt idx="3">
                  <c:v>0.79</c:v>
                </c:pt>
                <c:pt idx="4">
                  <c:v>0.76</c:v>
                </c:pt>
                <c:pt idx="5">
                  <c:v>0.72</c:v>
                </c:pt>
                <c:pt idx="6">
                  <c:v>0.68</c:v>
                </c:pt>
                <c:pt idx="7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5F-40AC-9A50-94457B2EA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47945679"/>
        <c:axId val="1247929359"/>
        <c:axId val="0"/>
      </c:bar3DChart>
      <c:catAx>
        <c:axId val="1247945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929359"/>
        <c:crosses val="autoZero"/>
        <c:auto val="1"/>
        <c:lblAlgn val="ctr"/>
        <c:lblOffset val="100"/>
        <c:noMultiLvlLbl val="0"/>
      </c:catAx>
      <c:valAx>
        <c:axId val="1247929359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945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8080D-2B2C-4C48-AB13-97E85EBAF0A4}" type="datetimeFigureOut"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5086F-7D11-4E40-B1A1-5CC8519E63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152C-2907-4A0A-A0B6-89680A69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B5711-0B8C-5F28-024B-08AB884D2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67CC1-1C2B-B8ED-79CD-1A38936B2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Hello, I am Edward, in charge of the Data Preprocessing and Modeling part.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First, we will cover the 'Data Preprocessing and Feature Engineering' process.</a:t>
            </a:r>
            <a:endParaRPr lang="en-US"/>
          </a:p>
          <a:p>
            <a:br>
              <a:rPr lang="en-US"/>
            </a:b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First, to enable algorithms to perform calculations,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converted binary fields such as gender, partner or churn status into 0s and 1s using label encoding.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For data with three or more categories, such as multiple lines, internet services or contract,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dummy-coded them using one-hot encoding to ensure the independence of each item.</a:t>
            </a:r>
            <a:endParaRPr lang="en-US"/>
          </a:p>
          <a:p>
            <a:br>
              <a:rPr lang="en-US"/>
            </a:b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Finally, for numerical data like Tenure, </a:t>
            </a:r>
            <a:r>
              <a:rPr lang="en-US" err="1">
                <a:solidFill>
                  <a:srgbClr val="475569"/>
                </a:solidFill>
                <a:highlight>
                  <a:srgbClr val="F8FAFC"/>
                </a:highlight>
              </a:rPr>
              <a:t>MonthlyChargs</a:t>
            </a: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 and </a:t>
            </a:r>
            <a:r>
              <a:rPr lang="en-US" err="1">
                <a:solidFill>
                  <a:srgbClr val="475569"/>
                </a:solidFill>
                <a:highlight>
                  <a:srgbClr val="F8FAFC"/>
                </a:highlight>
              </a:rPr>
              <a:t>TotalCharges</a:t>
            </a: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, which exhibit significant variance,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applied a Standard Scaler to scale them into a standard normal distribution to prevent the model from becoming overly biased toward specific variables.</a:t>
            </a: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E213C-56BD-E0B9-3315-8831BE1FB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39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This is Dataset Splitting and Model Training Strategy.</a:t>
            </a:r>
            <a:endParaRPr lang="en-US"/>
          </a:p>
          <a:p>
            <a:br>
              <a:rPr lang="en-US"/>
            </a:b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verified the model's generalization performance by splitting the dataset into 80% training data and 20% test data.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In particular, to avoid bias in specific algorithms,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conducted comparative experiments using a total of eight classification models, ranging from logistic regression to the latest technique, </a:t>
            </a:r>
            <a:r>
              <a:rPr lang="en-US" err="1">
                <a:solidFill>
                  <a:srgbClr val="475569"/>
                </a:solidFill>
                <a:highlight>
                  <a:srgbClr val="F8FAFC"/>
                </a:highlight>
              </a:rPr>
              <a:t>XGBoost</a:t>
            </a: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(Extreme Gradient Boosting)</a:t>
            </a:r>
            <a:endParaRPr lang="en-US"/>
          </a:p>
          <a:p>
            <a:br>
              <a:rPr lang="en-US"/>
            </a:b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Here, we used AUC as the metric for model performance. </a:t>
            </a:r>
            <a:b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</a:b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determined that AUC is the most suitable metric for evaluating the ability to classify churners,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which is the core of our project, because it best represents a model's discriminative power regardless of the classification threshold.</a:t>
            </a: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70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I will now present the experimental results.</a:t>
            </a:r>
            <a:endParaRPr lang="en-US"/>
          </a:p>
          <a:p>
            <a:br>
              <a:rPr lang="en-US">
                <a:cs typeface="+mn-lt"/>
              </a:rPr>
            </a:b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Among the eight models, the Gradient Boosting model, demonstrated the highest performance with an AUC of 0.84,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followed by Logistic Regression at 0.83.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did not view these results merely as numerical values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but examined them in detail using the Confusion Matrix and ROC curve.</a:t>
            </a:r>
            <a:endParaRPr lang="en-US"/>
          </a:p>
          <a:p>
            <a:br>
              <a:rPr lang="en-US">
                <a:cs typeface="+mn-lt"/>
              </a:rPr>
            </a:b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In particular, to achieve the business goal of preventing customer churn, </a:t>
            </a:r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tuned the final model by focusing on improving Recall to minimize errors where actual churners are misidentified as regular customers.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61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Deep learning or complex ensemble models have the disadvantage of being "black boxes,"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where it is difficult to understand the basis for their internal decisions.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To overcome this, we introduced explainable AI techniques: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SHAP for global interpretation and LIME for individual case interpretation.</a:t>
            </a:r>
            <a:endParaRPr lang="en-US"/>
          </a:p>
          <a:p>
            <a:endParaRPr lang="en-US">
              <a:cs typeface="+mn-lt"/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Looking at the SHAP summary chart, </a:t>
            </a:r>
            <a:endParaRPr lang="en-US"/>
          </a:p>
          <a:p>
            <a:endParaRPr lang="en-US">
              <a:cs typeface="+mn-lt"/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For example, You can see that 'Month-to-month' is the most critical variable determining churn.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The people who sign monthly contracts have a higher probability of cancellation, </a:t>
            </a: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whereas those who do not have a lower probability.</a:t>
            </a:r>
            <a:endParaRPr lang="en-US"/>
          </a:p>
          <a:p>
            <a:br>
              <a:rPr lang="en-US">
                <a:cs typeface="+mn-lt"/>
              </a:rPr>
            </a:br>
            <a:r>
              <a:rPr lang="en-US"/>
              <a:t>Based on this chart, The top 2 to 3 features had a significant impact.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/>
              <a:t>Let's take a closer look at the values?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96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The red color indicates a positive SHAP value,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meaning a Month-to-month contract significantly increases the probability of churn.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Conversely, blue indicates a negative SHAP value,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showing that other contract types correlate with a lower churn risk.</a:t>
            </a:r>
            <a:endParaRPr lang="en-US"/>
          </a:p>
          <a:p>
            <a:br>
              <a:rPr lang="en-US">
                <a:cs typeface="+mn-lt"/>
              </a:rPr>
            </a:b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For shorter tenure (left side of the x-axis),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the SHAP values are mostly positive (red), contributing to a higher churn probability.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As tenure increases (moving right), the values turn negative (blue),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indicating that longer-term customers are less likely to churn</a:t>
            </a:r>
            <a:endParaRPr lang="en-US"/>
          </a:p>
          <a:p>
            <a:br>
              <a:rPr lang="en-US">
                <a:cs typeface="+mn-lt"/>
              </a:rPr>
            </a:br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The same principle applies to not having a security subscription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49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understand the model's specific logic, </a:t>
            </a:r>
          </a:p>
          <a:p>
            <a:r>
              <a:rPr lang="en-US"/>
              <a:t>we analyzed an individual case (Customer 0) using SHAP values.</a:t>
            </a: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Key Retention Drivers are represented by the blue bars.</a:t>
            </a:r>
          </a:p>
          <a:p>
            <a:r>
              <a:rPr lang="en-US"/>
              <a:t>The primary reasons for the low churn prediction are not being on a Month-to-month contract and having a Two-year contract significantly reduce the churn risk. </a:t>
            </a:r>
          </a:p>
          <a:p>
            <a:r>
              <a:rPr lang="en-US"/>
              <a:t>Their high tenure further reinforces this stability.</a:t>
            </a: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On the other hand, the lack of an Online Security subscription acts as a push factor, slightly increasing the probability of churn.</a:t>
            </a: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Consequently, the model predicts a very high probability of this customer staying with the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31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Furthermore, through LIME analysis,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we can now provide specific reasons why individual customers are flagged as high-risk.</a:t>
            </a:r>
            <a:endParaRPr lang="en-US"/>
          </a:p>
          <a:p>
            <a:endParaRPr lang="en-US">
              <a:cs typeface="+mn-lt"/>
            </a:endParaRPr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This interpretability provides marketing managers with evidence-based insights, </a:t>
            </a:r>
            <a:endParaRPr lang="en-US"/>
          </a:p>
          <a:p>
            <a:r>
              <a:rPr lang="en-US">
                <a:solidFill>
                  <a:srgbClr val="475569"/>
                </a:solidFill>
                <a:highlight>
                  <a:srgbClr val="F8FAFC"/>
                </a:highlight>
              </a:rPr>
              <a:t>allowing them to make more effective and personalized churn prevention strategies.</a:t>
            </a: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9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a business perspective, missing a potential churner is a much costlier mistake than misidentifying a loyal one. </a:t>
            </a:r>
          </a:p>
          <a:p>
            <a:r>
              <a:rPr lang="en-US"/>
              <a:t>That is why our model prioritizes Recall over Precision.</a:t>
            </a:r>
          </a:p>
          <a:p>
            <a:r>
              <a:rPr lang="en-US"/>
              <a:t> </a:t>
            </a:r>
          </a:p>
          <a:p>
            <a:r>
              <a:rPr lang="en-US"/>
              <a:t>With this dashboard, companies can pinpoint 1,869 high-risk customers and </a:t>
            </a:r>
          </a:p>
          <a:p>
            <a:r>
              <a:rPr lang="en-US"/>
              <a:t>immediately launch personalized promotions tailored to each individual's specific reason for churn.</a:t>
            </a:r>
          </a:p>
          <a:p>
            <a:r>
              <a:rPr lang="en-US"/>
              <a:t>MawuKo, could you please explain the dashboard?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5086F-7D11-4E40-B1A1-5CC8519E630B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2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23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4267200" cy="42672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Shape 2"/>
          <p:cNvSpPr/>
          <p:nvPr/>
        </p:nvSpPr>
        <p:spPr>
          <a:xfrm>
            <a:off x="10119360" y="-853440"/>
            <a:ext cx="3048000" cy="3048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5" name="Shape 3"/>
          <p:cNvSpPr/>
          <p:nvPr/>
        </p:nvSpPr>
        <p:spPr>
          <a:xfrm>
            <a:off x="487680" y="426720"/>
            <a:ext cx="3413760" cy="463296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6" name="Text 4"/>
          <p:cNvSpPr/>
          <p:nvPr/>
        </p:nvSpPr>
        <p:spPr>
          <a:xfrm>
            <a:off x="487680" y="42672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FFFFFF"/>
                </a:solidFill>
              </a:rPr>
              <a:t>DATA ANALYTICS PROJECT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1158240"/>
            <a:ext cx="1036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867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</a:t>
            </a:r>
            <a:endParaRPr lang="en-US" sz="5867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6720" y="237744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5067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Analysis</a:t>
            </a:r>
            <a:endParaRPr lang="en-US" sz="5067"/>
          </a:p>
        </p:txBody>
      </p:sp>
      <p:sp>
        <p:nvSpPr>
          <p:cNvPr id="9" name="Shape 7"/>
          <p:cNvSpPr/>
          <p:nvPr/>
        </p:nvSpPr>
        <p:spPr>
          <a:xfrm>
            <a:off x="426720" y="3596640"/>
            <a:ext cx="7924800" cy="48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Text 8"/>
          <p:cNvSpPr/>
          <p:nvPr/>
        </p:nvSpPr>
        <p:spPr>
          <a:xfrm>
            <a:off x="426720" y="37795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IBM Telco Dataset  •  Machine Learning Pipeline  •  SHAP Explainability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6720" y="4572000"/>
            <a:ext cx="3657600" cy="1584960"/>
          </a:xfrm>
          <a:prstGeom prst="rect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10"/>
          <p:cNvSpPr/>
          <p:nvPr/>
        </p:nvSpPr>
        <p:spPr>
          <a:xfrm>
            <a:off x="426720" y="465734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ea typeface="Calibri"/>
                <a:cs typeface="Calibri"/>
              </a:rPr>
              <a:t>Rakesh</a:t>
            </a:r>
          </a:p>
        </p:txBody>
      </p:sp>
      <p:sp>
        <p:nvSpPr>
          <p:cNvPr id="13" name="Text 11"/>
          <p:cNvSpPr/>
          <p:nvPr/>
        </p:nvSpPr>
        <p:spPr>
          <a:xfrm>
            <a:off x="426720" y="51450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CFFAFE"/>
                </a:solidFill>
              </a:rPr>
              <a:t>EDA &amp; Data Cleaning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4328160" y="4572000"/>
            <a:ext cx="3657600" cy="1584960"/>
          </a:xfrm>
          <a:prstGeom prst="rect">
            <a:avLst/>
          </a:prstGeom>
          <a:solidFill>
            <a:srgbClr val="1E3448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4328160" y="465734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ea typeface="Calibri"/>
                <a:cs typeface="Calibri"/>
              </a:rPr>
              <a:t>Edward (Seongmin Choi)</a:t>
            </a:r>
          </a:p>
        </p:txBody>
      </p:sp>
      <p:sp>
        <p:nvSpPr>
          <p:cNvPr id="16" name="Text 14"/>
          <p:cNvSpPr/>
          <p:nvPr/>
        </p:nvSpPr>
        <p:spPr>
          <a:xfrm>
            <a:off x="4328160" y="51865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CBD5E1"/>
                </a:solidFill>
              </a:rPr>
              <a:t>Preprocessing &amp; Modeling</a:t>
            </a:r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8229600" y="4572000"/>
            <a:ext cx="3657600" cy="1584960"/>
          </a:xfrm>
          <a:prstGeom prst="rect">
            <a:avLst/>
          </a:prstGeom>
          <a:solidFill>
            <a:srgbClr val="1E3448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8" name="Text 16"/>
          <p:cNvSpPr/>
          <p:nvPr/>
        </p:nvSpPr>
        <p:spPr>
          <a:xfrm>
            <a:off x="8229600" y="465734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ea typeface="Calibri"/>
                <a:cs typeface="Calibri"/>
              </a:rPr>
              <a:t>Mawuko</a:t>
            </a:r>
          </a:p>
        </p:txBody>
      </p:sp>
      <p:sp>
        <p:nvSpPr>
          <p:cNvPr id="19" name="Text 17"/>
          <p:cNvSpPr/>
          <p:nvPr/>
        </p:nvSpPr>
        <p:spPr>
          <a:xfrm>
            <a:off x="8229600" y="51450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CBD5E1"/>
                </a:solidFill>
              </a:rPr>
              <a:t>SHAP &amp; Dashboard</a:t>
            </a:r>
            <a:endParaRPr lang="en-US" sz="1333"/>
          </a:p>
        </p:txBody>
      </p:sp>
      <p:sp>
        <p:nvSpPr>
          <p:cNvPr id="20" name="Shape 18"/>
          <p:cNvSpPr/>
          <p:nvPr/>
        </p:nvSpPr>
        <p:spPr>
          <a:xfrm>
            <a:off x="426720" y="4328160"/>
            <a:ext cx="1706880" cy="2682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1" name="Text 19"/>
          <p:cNvSpPr/>
          <p:nvPr/>
        </p:nvSpPr>
        <p:spPr>
          <a:xfrm>
            <a:off x="426720" y="4328160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900" b="1">
              <a:solidFill>
                <a:srgbClr val="0D1B2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</a:rPr>
              <a:t>What Are We Solving?</a:t>
            </a:r>
            <a:endParaRPr lang="en-US" sz="2933"/>
          </a:p>
        </p:txBody>
      </p:sp>
      <p:sp>
        <p:nvSpPr>
          <p:cNvPr id="5" name="Shape 3"/>
          <p:cNvSpPr/>
          <p:nvPr/>
        </p:nvSpPr>
        <p:spPr>
          <a:xfrm>
            <a:off x="365760" y="1158240"/>
            <a:ext cx="536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6" name="Shape 4"/>
          <p:cNvSpPr/>
          <p:nvPr/>
        </p:nvSpPr>
        <p:spPr>
          <a:xfrm>
            <a:off x="365760" y="1158240"/>
            <a:ext cx="97536" cy="2560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609600" y="12192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0D1B2A"/>
                </a:solidFill>
              </a:rPr>
              <a:t>The Problem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609600" y="1767840"/>
            <a:ext cx="4876800" cy="1767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when a customer stops using a service.</a:t>
            </a:r>
            <a:endParaRPr lang="en-US" sz="1467"/>
          </a:p>
          <a:p>
            <a:pPr marL="0" indent="0">
              <a:buNone/>
            </a:pP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telecom companies, losing customers is expensive — it costs </a:t>
            </a:r>
            <a:endParaRPr lang="en-US" sz="1467"/>
          </a:p>
          <a:p>
            <a:pPr marL="0" indent="0">
              <a:buNone/>
            </a:pPr>
            <a:r>
              <a:rPr lang="en-US" sz="1467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5–10x more</a:t>
            </a: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acquire a new customer than to retain an existing one.</a:t>
            </a:r>
            <a:endParaRPr lang="en-US" sz="1467"/>
          </a:p>
        </p:txBody>
      </p:sp>
      <p:sp>
        <p:nvSpPr>
          <p:cNvPr id="9" name="Shape 7"/>
          <p:cNvSpPr/>
          <p:nvPr/>
        </p:nvSpPr>
        <p:spPr>
          <a:xfrm>
            <a:off x="6096000" y="1158240"/>
            <a:ext cx="5608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8"/>
          <p:cNvSpPr/>
          <p:nvPr/>
        </p:nvSpPr>
        <p:spPr>
          <a:xfrm>
            <a:off x="6096000" y="1158240"/>
            <a:ext cx="97536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1" name="Text 9"/>
          <p:cNvSpPr/>
          <p:nvPr/>
        </p:nvSpPr>
        <p:spPr>
          <a:xfrm>
            <a:off x="6339840" y="1219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0D1B2A"/>
                </a:solidFill>
              </a:rPr>
              <a:t>Our Dataset</a:t>
            </a:r>
            <a:endParaRPr lang="en-US" sz="1867"/>
          </a:p>
        </p:txBody>
      </p:sp>
      <p:sp>
        <p:nvSpPr>
          <p:cNvPr id="12" name="Text 10"/>
          <p:cNvSpPr/>
          <p:nvPr/>
        </p:nvSpPr>
        <p:spPr>
          <a:xfrm>
            <a:off x="6339840" y="1767840"/>
            <a:ext cx="5120640" cy="1767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7,043 customers    • 21 features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Demographics, services &amp; billing info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Churn (Yes / No)</a:t>
            </a:r>
            <a:endParaRPr lang="en-US" sz="1467"/>
          </a:p>
        </p:txBody>
      </p:sp>
      <p:sp>
        <p:nvSpPr>
          <p:cNvPr id="13" name="Text 11"/>
          <p:cNvSpPr/>
          <p:nvPr/>
        </p:nvSpPr>
        <p:spPr>
          <a:xfrm>
            <a:off x="365760" y="396240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kern="0" spc="267">
                <a:solidFill>
                  <a:srgbClr val="64748B"/>
                </a:solidFill>
              </a:rPr>
              <a:t>OUR WORKFLOW PIPELINE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365760" y="4486656"/>
            <a:ext cx="2560320" cy="1645920"/>
          </a:xfrm>
          <a:prstGeom prst="rect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365760" y="448665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EDA</a:t>
            </a:r>
            <a:endParaRPr lang="en-US" sz="1467"/>
          </a:p>
          <a:p>
            <a:pPr algn="ctr"/>
            <a:endParaRPr lang="en-US" sz="145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26080" y="530352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7" name="Text 15"/>
          <p:cNvSpPr/>
          <p:nvPr/>
        </p:nvSpPr>
        <p:spPr>
          <a:xfrm>
            <a:off x="2926080" y="5096256"/>
            <a:ext cx="341376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0891B2"/>
                </a:solidFill>
              </a:rPr>
              <a:t>▶</a:t>
            </a:r>
            <a:endParaRPr lang="en-US" sz="1467"/>
          </a:p>
        </p:txBody>
      </p:sp>
      <p:sp>
        <p:nvSpPr>
          <p:cNvPr id="18" name="Shape 16"/>
          <p:cNvSpPr/>
          <p:nvPr/>
        </p:nvSpPr>
        <p:spPr>
          <a:xfrm>
            <a:off x="3291840" y="4486656"/>
            <a:ext cx="2560320" cy="1645920"/>
          </a:xfrm>
          <a:prstGeom prst="rect">
            <a:avLst/>
          </a:prstGeom>
          <a:solidFill>
            <a:srgbClr val="1E344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9" name="Text 17"/>
          <p:cNvSpPr/>
          <p:nvPr/>
        </p:nvSpPr>
        <p:spPr>
          <a:xfrm>
            <a:off x="3291840" y="448665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Preprocessing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&amp; Modeling</a:t>
            </a:r>
            <a:endParaRPr lang="en-US" sz="1467"/>
          </a:p>
        </p:txBody>
      </p:sp>
      <p:sp>
        <p:nvSpPr>
          <p:cNvPr id="20" name="Shape 18"/>
          <p:cNvSpPr/>
          <p:nvPr/>
        </p:nvSpPr>
        <p:spPr>
          <a:xfrm>
            <a:off x="5852160" y="530352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1" name="Text 19"/>
          <p:cNvSpPr/>
          <p:nvPr/>
        </p:nvSpPr>
        <p:spPr>
          <a:xfrm>
            <a:off x="5852160" y="5096256"/>
            <a:ext cx="341376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0891B2"/>
                </a:solidFill>
              </a:rPr>
              <a:t>▶</a:t>
            </a:r>
            <a:endParaRPr lang="en-US" sz="1467"/>
          </a:p>
        </p:txBody>
      </p:sp>
      <p:sp>
        <p:nvSpPr>
          <p:cNvPr id="22" name="Shape 20"/>
          <p:cNvSpPr/>
          <p:nvPr/>
        </p:nvSpPr>
        <p:spPr>
          <a:xfrm>
            <a:off x="6217920" y="4486656"/>
            <a:ext cx="2560320" cy="1645920"/>
          </a:xfrm>
          <a:prstGeom prst="rect">
            <a:avLst/>
          </a:prstGeom>
          <a:solidFill>
            <a:srgbClr val="1E344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3" name="Text 21"/>
          <p:cNvSpPr/>
          <p:nvPr/>
        </p:nvSpPr>
        <p:spPr>
          <a:xfrm>
            <a:off x="6217920" y="448665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SHAP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Explainability</a:t>
            </a:r>
            <a:endParaRPr lang="en-US" sz="1467"/>
          </a:p>
        </p:txBody>
      </p:sp>
      <p:sp>
        <p:nvSpPr>
          <p:cNvPr id="24" name="Shape 22"/>
          <p:cNvSpPr/>
          <p:nvPr/>
        </p:nvSpPr>
        <p:spPr>
          <a:xfrm>
            <a:off x="8778240" y="530352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5" name="Text 23"/>
          <p:cNvSpPr/>
          <p:nvPr/>
        </p:nvSpPr>
        <p:spPr>
          <a:xfrm>
            <a:off x="8778240" y="5096256"/>
            <a:ext cx="341376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0891B2"/>
                </a:solidFill>
              </a:rPr>
              <a:t>▶</a:t>
            </a:r>
            <a:endParaRPr lang="en-US" sz="1467"/>
          </a:p>
        </p:txBody>
      </p:sp>
      <p:sp>
        <p:nvSpPr>
          <p:cNvPr id="26" name="Shape 24"/>
          <p:cNvSpPr/>
          <p:nvPr/>
        </p:nvSpPr>
        <p:spPr>
          <a:xfrm>
            <a:off x="9144000" y="4486656"/>
            <a:ext cx="2560320" cy="1645920"/>
          </a:xfrm>
          <a:prstGeom prst="rect">
            <a:avLst/>
          </a:prstGeom>
          <a:solidFill>
            <a:srgbClr val="1E344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7" name="Text 25"/>
          <p:cNvSpPr/>
          <p:nvPr/>
        </p:nvSpPr>
        <p:spPr>
          <a:xfrm>
            <a:off x="9144000" y="4486656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Streamlit</a:t>
            </a:r>
            <a:endParaRPr lang="en-US" sz="1467"/>
          </a:p>
          <a:p>
            <a:pPr marL="0" indent="0" algn="ctr">
              <a:buNone/>
            </a:pPr>
            <a:r>
              <a:rPr lang="en-US" sz="1467">
                <a:solidFill>
                  <a:srgbClr val="FFFFFF"/>
                </a:solidFill>
              </a:rPr>
              <a:t>Dashboard</a:t>
            </a:r>
            <a:endParaRPr lang="en-US" sz="146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</a:rPr>
              <a:t>Step 1: Understanding the Raw Data</a:t>
            </a:r>
            <a:endParaRPr lang="en-US" sz="2933"/>
          </a:p>
        </p:txBody>
      </p:sp>
      <p:sp>
        <p:nvSpPr>
          <p:cNvPr id="5" name="Shape 3"/>
          <p:cNvSpPr/>
          <p:nvPr/>
        </p:nvSpPr>
        <p:spPr>
          <a:xfrm>
            <a:off x="243840" y="1097280"/>
            <a:ext cx="2682240" cy="170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6" name="Shape 4"/>
          <p:cNvSpPr/>
          <p:nvPr/>
        </p:nvSpPr>
        <p:spPr>
          <a:xfrm>
            <a:off x="243840" y="1097280"/>
            <a:ext cx="2682240" cy="121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243840" y="1280160"/>
            <a:ext cx="2682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0891B2"/>
                </a:solidFill>
              </a:rPr>
              <a:t>7,043</a:t>
            </a:r>
            <a:endParaRPr lang="en-US" sz="4267"/>
          </a:p>
        </p:txBody>
      </p:sp>
      <p:sp>
        <p:nvSpPr>
          <p:cNvPr id="8" name="Text 6"/>
          <p:cNvSpPr/>
          <p:nvPr/>
        </p:nvSpPr>
        <p:spPr>
          <a:xfrm>
            <a:off x="243840" y="213360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4748B"/>
                </a:solidFill>
              </a:rPr>
              <a:t>Total Customers</a:t>
            </a:r>
            <a:endParaRPr lang="en-US" sz="1333"/>
          </a:p>
        </p:txBody>
      </p:sp>
      <p:sp>
        <p:nvSpPr>
          <p:cNvPr id="9" name="Shape 7"/>
          <p:cNvSpPr/>
          <p:nvPr/>
        </p:nvSpPr>
        <p:spPr>
          <a:xfrm>
            <a:off x="3230880" y="1097280"/>
            <a:ext cx="2682240" cy="170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8"/>
          <p:cNvSpPr/>
          <p:nvPr/>
        </p:nvSpPr>
        <p:spPr>
          <a:xfrm>
            <a:off x="3230880" y="1097280"/>
            <a:ext cx="2682240" cy="12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1" name="Text 9"/>
          <p:cNvSpPr/>
          <p:nvPr/>
        </p:nvSpPr>
        <p:spPr>
          <a:xfrm>
            <a:off x="3230880" y="1280160"/>
            <a:ext cx="2682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F59E0B"/>
                </a:solidFill>
              </a:rPr>
              <a:t>21</a:t>
            </a:r>
            <a:endParaRPr lang="en-US" sz="4267"/>
          </a:p>
        </p:txBody>
      </p:sp>
      <p:sp>
        <p:nvSpPr>
          <p:cNvPr id="12" name="Text 10"/>
          <p:cNvSpPr/>
          <p:nvPr/>
        </p:nvSpPr>
        <p:spPr>
          <a:xfrm>
            <a:off x="3230880" y="213360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4748B"/>
                </a:solidFill>
              </a:rPr>
              <a:t>Features / Columns</a:t>
            </a:r>
            <a:endParaRPr lang="en-US" sz="1333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82240" cy="170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82240" cy="121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682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EF4444"/>
                </a:solidFill>
              </a:rPr>
              <a:t>11</a:t>
            </a:r>
            <a:endParaRPr lang="en-US" sz="4267"/>
          </a:p>
        </p:txBody>
      </p:sp>
      <p:sp>
        <p:nvSpPr>
          <p:cNvPr id="16" name="Text 14"/>
          <p:cNvSpPr/>
          <p:nvPr/>
        </p:nvSpPr>
        <p:spPr>
          <a:xfrm>
            <a:off x="6217920" y="213360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4748B"/>
                </a:solidFill>
              </a:rPr>
              <a:t>Rows with Missing Data</a:t>
            </a:r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9204960" y="1097280"/>
            <a:ext cx="2682240" cy="170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8" name="Shape 16"/>
          <p:cNvSpPr/>
          <p:nvPr/>
        </p:nvSpPr>
        <p:spPr>
          <a:xfrm>
            <a:off x="9204960" y="1097280"/>
            <a:ext cx="2682240" cy="121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9" name="Text 17"/>
          <p:cNvSpPr/>
          <p:nvPr/>
        </p:nvSpPr>
        <p:spPr>
          <a:xfrm>
            <a:off x="9204960" y="1280160"/>
            <a:ext cx="26822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>
                <a:solidFill>
                  <a:srgbClr val="22C55E"/>
                </a:solidFill>
              </a:rPr>
              <a:t>20</a:t>
            </a:r>
            <a:endParaRPr lang="en-US" sz="4267"/>
          </a:p>
        </p:txBody>
      </p:sp>
      <p:sp>
        <p:nvSpPr>
          <p:cNvPr id="20" name="Text 18"/>
          <p:cNvSpPr/>
          <p:nvPr/>
        </p:nvSpPr>
        <p:spPr>
          <a:xfrm>
            <a:off x="9204960" y="213360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64748B"/>
                </a:solidFill>
              </a:rPr>
              <a:t>Features After Cleaning</a:t>
            </a:r>
            <a:endParaRPr lang="en-US" sz="1333"/>
          </a:p>
        </p:txBody>
      </p:sp>
      <p:sp>
        <p:nvSpPr>
          <p:cNvPr id="21" name="Shape 19"/>
          <p:cNvSpPr/>
          <p:nvPr/>
        </p:nvSpPr>
        <p:spPr>
          <a:xfrm>
            <a:off x="243840" y="3108960"/>
            <a:ext cx="5486400" cy="316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2" name="Shape 20"/>
          <p:cNvSpPr/>
          <p:nvPr/>
        </p:nvSpPr>
        <p:spPr>
          <a:xfrm>
            <a:off x="243840" y="3108960"/>
            <a:ext cx="97536" cy="3169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3" name="Text 21"/>
          <p:cNvSpPr/>
          <p:nvPr/>
        </p:nvSpPr>
        <p:spPr>
          <a:xfrm>
            <a:off x="487680" y="3169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D1B2A"/>
                </a:solidFill>
              </a:rPr>
              <a:t>What We Found in the Raw Data</a:t>
            </a:r>
            <a:endParaRPr lang="en-US" sz="1733"/>
          </a:p>
        </p:txBody>
      </p:sp>
      <p:sp>
        <p:nvSpPr>
          <p:cNvPr id="24" name="Text 22"/>
          <p:cNvSpPr/>
          <p:nvPr/>
        </p:nvSpPr>
        <p:spPr>
          <a:xfrm>
            <a:off x="487680" y="3779520"/>
            <a:ext cx="5120640" cy="2316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TotalCharges stored as text (object) instead of number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rows had blank TotalCharges (new customers, tenure=0)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actual duplicate customer IDs found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column: 'Yes'/'No' strings → converted to 1/0
</a:t>
            </a:r>
            <a:endParaRPr lang="en-US" sz="1467"/>
          </a:p>
          <a:p>
            <a:pPr marL="0" indent="0">
              <a:buNone/>
            </a:pPr>
            <a:r>
              <a:rPr lang="en-US" sz="1467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customerID removed (not useful for modeling)</a:t>
            </a:r>
            <a:endParaRPr lang="en-US" sz="1467"/>
          </a:p>
        </p:txBody>
      </p:sp>
      <p:sp>
        <p:nvSpPr>
          <p:cNvPr id="25" name="Shape 23"/>
          <p:cNvSpPr/>
          <p:nvPr/>
        </p:nvSpPr>
        <p:spPr>
          <a:xfrm>
            <a:off x="6096000" y="3129280"/>
            <a:ext cx="5730240" cy="316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6" name="Shape 24"/>
          <p:cNvSpPr/>
          <p:nvPr/>
        </p:nvSpPr>
        <p:spPr>
          <a:xfrm>
            <a:off x="6096000" y="3108960"/>
            <a:ext cx="97536" cy="3169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7" name="Text 25"/>
          <p:cNvSpPr/>
          <p:nvPr/>
        </p:nvSpPr>
        <p:spPr>
          <a:xfrm>
            <a:off x="6339840" y="3169920"/>
            <a:ext cx="524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D1B2A"/>
                </a:solidFill>
              </a:rPr>
              <a:t>Feature Categories</a:t>
            </a:r>
            <a:endParaRPr lang="en-US" sz="1733"/>
          </a:p>
        </p:txBody>
      </p:sp>
      <p:sp>
        <p:nvSpPr>
          <p:cNvPr id="28" name="Shape 26"/>
          <p:cNvSpPr/>
          <p:nvPr/>
        </p:nvSpPr>
        <p:spPr>
          <a:xfrm>
            <a:off x="6339840" y="3803904"/>
            <a:ext cx="158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9" name="Text 27"/>
          <p:cNvSpPr/>
          <p:nvPr/>
        </p:nvSpPr>
        <p:spPr>
          <a:xfrm>
            <a:off x="6339840" y="3803904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Demographics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8046720" y="3803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gender, SeniorCitizen, Partner, Dependents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6339840" y="4389120"/>
            <a:ext cx="158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2" name="Text 30"/>
          <p:cNvSpPr/>
          <p:nvPr/>
        </p:nvSpPr>
        <p:spPr>
          <a:xfrm>
            <a:off x="6339840" y="438912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Services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0467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PhoneService, InternetService, OnlineSecurity, TechSupport...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6339840" y="4974336"/>
            <a:ext cx="158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5" name="Text 33"/>
          <p:cNvSpPr/>
          <p:nvPr/>
        </p:nvSpPr>
        <p:spPr>
          <a:xfrm>
            <a:off x="6339840" y="4974336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Account Info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8046720" y="4974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Contract, PaymentMethod, PaperlessBilling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339840" y="5559552"/>
            <a:ext cx="158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8" name="Text 36"/>
          <p:cNvSpPr/>
          <p:nvPr/>
        </p:nvSpPr>
        <p:spPr>
          <a:xfrm>
            <a:off x="6339840" y="5559552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Charges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8046720" y="5559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</a:rPr>
              <a:t>tenure, MonthlyCharges, TotalCharges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</a:rPr>
              <a:t>Key Finding #1: Churn Rate Overview</a:t>
            </a:r>
            <a:endParaRPr lang="en-US" sz="2933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13760" cy="390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41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b="1">
                <a:solidFill>
                  <a:srgbClr val="EF4444"/>
                </a:solidFill>
              </a:rPr>
              <a:t>26.5%</a:t>
            </a:r>
            <a:endParaRPr lang="en-US" sz="720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413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>
                <a:solidFill>
                  <a:srgbClr val="FFFFFF"/>
                </a:solidFill>
              </a:rPr>
              <a:t>Overall</a:t>
            </a:r>
            <a:endParaRPr lang="en-US" sz="1867"/>
          </a:p>
          <a:p>
            <a:pPr marL="0" indent="0" algn="ctr">
              <a:buNone/>
            </a:pPr>
            <a:r>
              <a:rPr lang="en-US" sz="1867">
                <a:solidFill>
                  <a:srgbClr val="FFFFFF"/>
                </a:solidFill>
              </a:rPr>
              <a:t>Churn Rate</a:t>
            </a:r>
            <a:endParaRPr lang="en-US" sz="1867"/>
          </a:p>
        </p:txBody>
      </p:sp>
      <p:sp>
        <p:nvSpPr>
          <p:cNvPr id="8" name="Shape 6"/>
          <p:cNvSpPr/>
          <p:nvPr/>
        </p:nvSpPr>
        <p:spPr>
          <a:xfrm>
            <a:off x="609600" y="3925824"/>
            <a:ext cx="2926080" cy="48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CBD5E1"/>
                </a:solidFill>
              </a:rPr>
              <a:t>1,869 out of 7,032 customers</a:t>
            </a:r>
            <a:endParaRPr lang="en-US" sz="1333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72481513"/>
              </p:ext>
            </p:extLst>
          </p:nvPr>
        </p:nvGraphicFramePr>
        <p:xfrm>
          <a:off x="4023360" y="1111135"/>
          <a:ext cx="4876800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9144000" y="1097280"/>
            <a:ext cx="2804160" cy="3901440"/>
          </a:xfrm>
          <a:prstGeom prst="rect">
            <a:avLst/>
          </a:prstGeom>
          <a:solidFill>
            <a:srgbClr val="1E344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9"/>
          <p:cNvSpPr/>
          <p:nvPr/>
        </p:nvSpPr>
        <p:spPr>
          <a:xfrm>
            <a:off x="9204960" y="1219200"/>
            <a:ext cx="2682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06B6D4"/>
                </a:solidFill>
              </a:rPr>
              <a:t>💡 What This Means</a:t>
            </a:r>
            <a:endParaRPr lang="en-US" sz="1467"/>
          </a:p>
        </p:txBody>
      </p:sp>
      <p:sp>
        <p:nvSpPr>
          <p:cNvPr id="13" name="Text 10"/>
          <p:cNvSpPr/>
          <p:nvPr/>
        </p:nvSpPr>
        <p:spPr>
          <a:xfrm>
            <a:off x="9204960" y="1828800"/>
            <a:ext cx="268224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4
</a:t>
            </a:r>
            <a:endParaRPr lang="en-US" sz="2400"/>
          </a:p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
</a:t>
            </a:r>
            <a:endParaRPr lang="en-US" sz="2400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significant. Industry avg is around 15–25%.
</a:t>
            </a:r>
            <a:endParaRPr lang="en-US" sz="2400"/>
          </a:p>
          <a:p>
            <a:pPr marL="0" indent="0">
              <a:buNone/>
            </a:pPr>
            <a:r>
              <a:rPr lang="en-US" sz="1267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imbalance (73% vs 27%) must be handled carefully in modeling.</a:t>
            </a:r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0" y="64617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</a:rPr>
              <a:t>Data: IBM Telco Customer Churn Dataset  |  After Cleaning: 7,032 rows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>
                <a:solidFill>
                  <a:srgbClr val="FFFFFF"/>
                </a:solidFill>
              </a:rPr>
              <a:t>Key Finding #2: Contract Type is the Strongest Predictor</a:t>
            </a:r>
            <a:endParaRPr lang="en-US" sz="2667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42839607"/>
              </p:ext>
            </p:extLst>
          </p:nvPr>
        </p:nvGraphicFramePr>
        <p:xfrm>
          <a:off x="379615" y="1124989"/>
          <a:ext cx="7071360" cy="4145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02880" y="1097280"/>
            <a:ext cx="4145280" cy="4145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7" name="Text 4"/>
          <p:cNvSpPr/>
          <p:nvPr/>
        </p:nvSpPr>
        <p:spPr>
          <a:xfrm>
            <a:off x="7924800" y="128016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>
                <a:solidFill>
                  <a:srgbClr val="EF4444"/>
                </a:solidFill>
              </a:rPr>
              <a:t>42.7%</a:t>
            </a:r>
            <a:endParaRPr lang="en-US" sz="3733"/>
          </a:p>
        </p:txBody>
      </p:sp>
      <p:sp>
        <p:nvSpPr>
          <p:cNvPr id="8" name="Text 5"/>
          <p:cNvSpPr/>
          <p:nvPr/>
        </p:nvSpPr>
        <p:spPr>
          <a:xfrm>
            <a:off x="9509760" y="140208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FFFFFF"/>
                </a:solidFill>
              </a:rPr>
              <a:t>Month-to-Month</a:t>
            </a:r>
            <a:endParaRPr lang="en-US" sz="1467"/>
          </a:p>
        </p:txBody>
      </p:sp>
      <p:sp>
        <p:nvSpPr>
          <p:cNvPr id="9" name="Text 6"/>
          <p:cNvSpPr/>
          <p:nvPr/>
        </p:nvSpPr>
        <p:spPr>
          <a:xfrm>
            <a:off x="7924800" y="237744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>
                <a:solidFill>
                  <a:srgbClr val="F59E0B"/>
                </a:solidFill>
              </a:rPr>
              <a:t>11.3%</a:t>
            </a:r>
            <a:endParaRPr lang="en-US" sz="3733"/>
          </a:p>
        </p:txBody>
      </p:sp>
      <p:sp>
        <p:nvSpPr>
          <p:cNvPr id="10" name="Text 7"/>
          <p:cNvSpPr/>
          <p:nvPr/>
        </p:nvSpPr>
        <p:spPr>
          <a:xfrm>
            <a:off x="9509760" y="249936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FFFFFF"/>
                </a:solidFill>
              </a:rPr>
              <a:t>One Year</a:t>
            </a:r>
            <a:endParaRPr lang="en-US" sz="1467"/>
          </a:p>
        </p:txBody>
      </p:sp>
      <p:sp>
        <p:nvSpPr>
          <p:cNvPr id="11" name="Text 8"/>
          <p:cNvSpPr/>
          <p:nvPr/>
        </p:nvSpPr>
        <p:spPr>
          <a:xfrm>
            <a:off x="7924800" y="3474720"/>
            <a:ext cx="1584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>
                <a:solidFill>
                  <a:srgbClr val="22C55E"/>
                </a:solidFill>
              </a:rPr>
              <a:t>2.8%</a:t>
            </a:r>
            <a:endParaRPr lang="en-US" sz="3733"/>
          </a:p>
        </p:txBody>
      </p:sp>
      <p:sp>
        <p:nvSpPr>
          <p:cNvPr id="12" name="Text 9"/>
          <p:cNvSpPr/>
          <p:nvPr/>
        </p:nvSpPr>
        <p:spPr>
          <a:xfrm>
            <a:off x="9509760" y="359664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FFFFFF"/>
                </a:solidFill>
              </a:rPr>
              <a:t>Two Year</a:t>
            </a:r>
            <a:endParaRPr lang="en-US" sz="1467"/>
          </a:p>
        </p:txBody>
      </p:sp>
      <p:sp>
        <p:nvSpPr>
          <p:cNvPr id="13" name="Shape 10"/>
          <p:cNvSpPr/>
          <p:nvPr/>
        </p:nvSpPr>
        <p:spPr>
          <a:xfrm>
            <a:off x="7924800" y="4511040"/>
            <a:ext cx="3901440" cy="48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4" name="Text 11"/>
          <p:cNvSpPr/>
          <p:nvPr/>
        </p:nvSpPr>
        <p:spPr>
          <a:xfrm>
            <a:off x="7924800" y="4632960"/>
            <a:ext cx="3901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06B6D4"/>
                </a:solidFill>
              </a:rPr>
              <a:t>Month-to-month customers churn</a:t>
            </a:r>
            <a:endParaRPr lang="en-US" sz="1333"/>
          </a:p>
          <a:p>
            <a:pPr marL="0" indent="0" algn="ctr">
              <a:buNone/>
            </a:pPr>
            <a:r>
              <a:rPr lang="en-US" sz="1333" b="1">
                <a:solidFill>
                  <a:srgbClr val="06B6D4"/>
                </a:solidFill>
              </a:rPr>
              <a:t>15× more than 2-year contract customers!</a:t>
            </a:r>
            <a:endParaRPr lang="en-US" sz="1333"/>
          </a:p>
        </p:txBody>
      </p:sp>
      <p:sp>
        <p:nvSpPr>
          <p:cNvPr id="15" name="Shape 12"/>
          <p:cNvSpPr/>
          <p:nvPr/>
        </p:nvSpPr>
        <p:spPr>
          <a:xfrm>
            <a:off x="365760" y="5486400"/>
            <a:ext cx="11460480" cy="103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6" name="Text 13"/>
          <p:cNvSpPr/>
          <p:nvPr/>
        </p:nvSpPr>
        <p:spPr>
          <a:xfrm>
            <a:off x="609600" y="558393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>
                <a:solidFill>
                  <a:srgbClr val="F59E0B"/>
                </a:solidFill>
              </a:rPr>
              <a:t>🔑  Insight for Modeling:</a:t>
            </a:r>
            <a:endParaRPr lang="en-US" sz="1467"/>
          </a:p>
        </p:txBody>
      </p:sp>
      <p:sp>
        <p:nvSpPr>
          <p:cNvPr id="17" name="Text 14"/>
          <p:cNvSpPr/>
          <p:nvPr/>
        </p:nvSpPr>
        <p:spPr>
          <a:xfrm>
            <a:off x="3352800" y="5583936"/>
            <a:ext cx="829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should be the top feature in the model. Month-to-month contracts are the highest-risk segment — targeting these customers for retention offers could drastically reduce churn.</a:t>
            </a:r>
            <a:endParaRPr lang="en-US" sz="133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</a:rPr>
              <a:t>Key Finding #3: Tenure &amp; Monthly Charges</a:t>
            </a:r>
            <a:endParaRPr lang="en-US" sz="2933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36320"/>
          <a:ext cx="6705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37120" y="1097280"/>
            <a:ext cx="4511040" cy="195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7" name="Text 4"/>
          <p:cNvSpPr/>
          <p:nvPr/>
        </p:nvSpPr>
        <p:spPr>
          <a:xfrm>
            <a:off x="7559040" y="1194816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D1B2A"/>
                </a:solidFill>
              </a:rPr>
              <a:t>📅  Avg Tenure</a:t>
            </a:r>
            <a:endParaRPr lang="en-US" sz="1733"/>
          </a:p>
        </p:txBody>
      </p:sp>
      <p:sp>
        <p:nvSpPr>
          <p:cNvPr id="8" name="Shape 5"/>
          <p:cNvSpPr/>
          <p:nvPr/>
        </p:nvSpPr>
        <p:spPr>
          <a:xfrm>
            <a:off x="7559040" y="1706880"/>
            <a:ext cx="1889760" cy="1036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9" name="Text 6"/>
          <p:cNvSpPr/>
          <p:nvPr/>
        </p:nvSpPr>
        <p:spPr>
          <a:xfrm>
            <a:off x="7559040" y="1706880"/>
            <a:ext cx="18897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22C55E"/>
                </a:solidFill>
              </a:rPr>
              <a:t>Retained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2C55E"/>
                </a:solidFill>
              </a:rPr>
              <a:t>37.6 mo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9875520" y="1706880"/>
            <a:ext cx="1889760" cy="103632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1" name="Text 8"/>
          <p:cNvSpPr/>
          <p:nvPr/>
        </p:nvSpPr>
        <p:spPr>
          <a:xfrm>
            <a:off x="9875520" y="1706880"/>
            <a:ext cx="18897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EF4444"/>
                </a:solidFill>
              </a:rPr>
              <a:t>Churned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EF4444"/>
                </a:solidFill>
              </a:rPr>
              <a:t>17.9 mo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7437120" y="3413760"/>
            <a:ext cx="4511040" cy="195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3" name="Text 10"/>
          <p:cNvSpPr/>
          <p:nvPr/>
        </p:nvSpPr>
        <p:spPr>
          <a:xfrm>
            <a:off x="7559040" y="3511296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0D1B2A"/>
                </a:solidFill>
              </a:rPr>
              <a:t>💰  Avg Monthly</a:t>
            </a:r>
            <a:endParaRPr lang="en-US" sz="1733"/>
          </a:p>
        </p:txBody>
      </p:sp>
      <p:sp>
        <p:nvSpPr>
          <p:cNvPr id="14" name="Shape 11"/>
          <p:cNvSpPr/>
          <p:nvPr/>
        </p:nvSpPr>
        <p:spPr>
          <a:xfrm>
            <a:off x="7559040" y="4023360"/>
            <a:ext cx="1889760" cy="1036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5" name="Text 12"/>
          <p:cNvSpPr/>
          <p:nvPr/>
        </p:nvSpPr>
        <p:spPr>
          <a:xfrm>
            <a:off x="7559040" y="4023360"/>
            <a:ext cx="18897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22C55E"/>
                </a:solidFill>
              </a:rPr>
              <a:t>Retained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22C55E"/>
                </a:solidFill>
              </a:rPr>
              <a:t>$61.27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9875520" y="4023360"/>
            <a:ext cx="1889760" cy="103632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7" name="Text 14"/>
          <p:cNvSpPr/>
          <p:nvPr/>
        </p:nvSpPr>
        <p:spPr>
          <a:xfrm>
            <a:off x="9875520" y="4023360"/>
            <a:ext cx="18897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EF4444"/>
                </a:solidFill>
              </a:rPr>
              <a:t>Churned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EF4444"/>
                </a:solidFill>
              </a:rPr>
              <a:t>$74.44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365760" y="4974336"/>
            <a:ext cx="11460480" cy="48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9" name="Text 16"/>
          <p:cNvSpPr/>
          <p:nvPr/>
        </p:nvSpPr>
        <p:spPr>
          <a:xfrm>
            <a:off x="609600" y="4974336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🔑  The first 12 months are critical — nearly 50% churn! AND churners pay $13/month more on average.</a:t>
            </a:r>
            <a:endParaRPr lang="en-US" sz="1400"/>
          </a:p>
        </p:txBody>
      </p:sp>
      <p:graphicFrame>
        <p:nvGraphicFramePr>
          <p:cNvPr id="20" name="Chart 1"/>
          <p:cNvGraphicFramePr/>
          <p:nvPr/>
        </p:nvGraphicFramePr>
        <p:xfrm>
          <a:off x="365760" y="5608320"/>
          <a:ext cx="11460480" cy="97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>
                <a:solidFill>
                  <a:srgbClr val="FFFFFF"/>
                </a:solidFill>
              </a:rPr>
              <a:t>Key Finding #4: Internet Service &amp; Payment Method</a:t>
            </a:r>
            <a:endParaRPr lang="en-US" sz="2667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486400" cy="3413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17920" y="1097280"/>
          <a:ext cx="5608320" cy="3413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693920"/>
            <a:ext cx="5486400" cy="1706880"/>
          </a:xfrm>
          <a:prstGeom prst="rect">
            <a:avLst/>
          </a:prstGeom>
          <a:solidFill>
            <a:srgbClr val="1E344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8" name="Text 4"/>
          <p:cNvSpPr/>
          <p:nvPr/>
        </p:nvSpPr>
        <p:spPr>
          <a:xfrm>
            <a:off x="609600" y="4754880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EF4444"/>
                </a:solidFill>
              </a:rPr>
              <a:t>⚠️  Surprising!</a:t>
            </a:r>
            <a:endParaRPr lang="en-US" sz="1733"/>
          </a:p>
        </p:txBody>
      </p:sp>
      <p:sp>
        <p:nvSpPr>
          <p:cNvPr id="9" name="Text 5"/>
          <p:cNvSpPr/>
          <p:nvPr/>
        </p:nvSpPr>
        <p:spPr>
          <a:xfrm>
            <a:off x="609600" y="524256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is the PREMIUM service yet has the HIGHEST churn (42%). This suggests pricing dissatisfaction or service quality issues — not just usage patterns.</a:t>
            </a:r>
            <a:endParaRPr lang="en-US" sz="1333"/>
          </a:p>
        </p:txBody>
      </p:sp>
      <p:sp>
        <p:nvSpPr>
          <p:cNvPr id="10" name="Shape 6"/>
          <p:cNvSpPr/>
          <p:nvPr/>
        </p:nvSpPr>
        <p:spPr>
          <a:xfrm>
            <a:off x="6217920" y="4693920"/>
            <a:ext cx="5608320" cy="1706880"/>
          </a:xfrm>
          <a:prstGeom prst="rect">
            <a:avLst/>
          </a:prstGeom>
          <a:solidFill>
            <a:srgbClr val="1E344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1" name="Text 7"/>
          <p:cNvSpPr/>
          <p:nvPr/>
        </p:nvSpPr>
        <p:spPr>
          <a:xfrm>
            <a:off x="6461760" y="475488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F59E0B"/>
                </a:solidFill>
              </a:rPr>
              <a:t>💡  Key Pattern:</a:t>
            </a:r>
            <a:endParaRPr lang="en-US" sz="1733"/>
          </a:p>
        </p:txBody>
      </p:sp>
      <p:sp>
        <p:nvSpPr>
          <p:cNvPr id="12" name="Text 8"/>
          <p:cNvSpPr/>
          <p:nvPr/>
        </p:nvSpPr>
        <p:spPr>
          <a:xfrm>
            <a:off x="6461760" y="5242560"/>
            <a:ext cx="5120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3× more than credit card users. Auto-pay methods (bank transfer, credit card) = lower churn — these customers are more committed.</a:t>
            </a:r>
            <a:endParaRPr lang="en-US" sz="133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67200"/>
            <a:ext cx="4876800" cy="4876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/>
          <p:cNvSpPr/>
          <p:nvPr/>
        </p:nvSpPr>
        <p:spPr>
          <a:xfrm>
            <a:off x="42672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Summary &amp; What's Next</a:t>
            </a:r>
          </a:p>
        </p:txBody>
      </p:sp>
      <p:sp>
        <p:nvSpPr>
          <p:cNvPr id="5" name="Shape 3"/>
          <p:cNvSpPr/>
          <p:nvPr/>
        </p:nvSpPr>
        <p:spPr>
          <a:xfrm>
            <a:off x="426720" y="1463040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6" name="Text 4"/>
          <p:cNvSpPr/>
          <p:nvPr/>
        </p:nvSpPr>
        <p:spPr>
          <a:xfrm>
            <a:off x="426720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0D1B2A"/>
                </a:solidFill>
              </a:rPr>
              <a:t>1</a:t>
            </a:r>
            <a:endParaRPr lang="en-US" sz="1733"/>
          </a:p>
        </p:txBody>
      </p:sp>
      <p:sp>
        <p:nvSpPr>
          <p:cNvPr id="7" name="Text 5"/>
          <p:cNvSpPr/>
          <p:nvPr/>
        </p:nvSpPr>
        <p:spPr>
          <a:xfrm>
            <a:off x="1097280" y="1511808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rgbClr val="FF0000"/>
                </a:solidFill>
              </a:rPr>
              <a:t>Overall churn rate: 26.5% (~1 in 4 customers leave)</a:t>
            </a:r>
          </a:p>
        </p:txBody>
      </p:sp>
      <p:sp>
        <p:nvSpPr>
          <p:cNvPr id="8" name="Shape 6"/>
          <p:cNvSpPr/>
          <p:nvPr/>
        </p:nvSpPr>
        <p:spPr>
          <a:xfrm>
            <a:off x="426720" y="223113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426720" y="2231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0D1B2A"/>
                </a:solidFill>
              </a:rPr>
              <a:t>2</a:t>
            </a:r>
            <a:endParaRPr lang="en-US" sz="1733"/>
          </a:p>
        </p:txBody>
      </p:sp>
      <p:sp>
        <p:nvSpPr>
          <p:cNvPr id="10" name="Text 8"/>
          <p:cNvSpPr/>
          <p:nvPr/>
        </p:nvSpPr>
        <p:spPr>
          <a:xfrm>
            <a:off x="1097280" y="2279904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chemeClr val="accent2"/>
                </a:solidFill>
              </a:rPr>
              <a:t>Month-to-month contracts: 42.7% churn vs 2.8% for 2-year</a:t>
            </a:r>
          </a:p>
        </p:txBody>
      </p:sp>
      <p:sp>
        <p:nvSpPr>
          <p:cNvPr id="11" name="Shape 9"/>
          <p:cNvSpPr/>
          <p:nvPr/>
        </p:nvSpPr>
        <p:spPr>
          <a:xfrm>
            <a:off x="426720" y="2999232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10"/>
          <p:cNvSpPr/>
          <p:nvPr/>
        </p:nvSpPr>
        <p:spPr>
          <a:xfrm>
            <a:off x="42672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0D1B2A"/>
                </a:solidFill>
              </a:rPr>
              <a:t>3</a:t>
            </a:r>
            <a:endParaRPr lang="en-US" sz="1733"/>
          </a:p>
        </p:txBody>
      </p:sp>
      <p:sp>
        <p:nvSpPr>
          <p:cNvPr id="13" name="Text 11"/>
          <p:cNvSpPr/>
          <p:nvPr/>
        </p:nvSpPr>
        <p:spPr>
          <a:xfrm>
            <a:off x="1097280" y="3048000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chemeClr val="accent2"/>
                </a:solidFill>
              </a:rPr>
              <a:t>New customers (0-12 months) are at highest risk: ~48% churn</a:t>
            </a:r>
          </a:p>
        </p:txBody>
      </p:sp>
      <p:sp>
        <p:nvSpPr>
          <p:cNvPr id="14" name="Shape 12"/>
          <p:cNvSpPr/>
          <p:nvPr/>
        </p:nvSpPr>
        <p:spPr>
          <a:xfrm>
            <a:off x="426720" y="376732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426720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0D1B2A"/>
                </a:solidFill>
              </a:rPr>
              <a:t>4</a:t>
            </a:r>
            <a:endParaRPr lang="en-US" sz="1733"/>
          </a:p>
        </p:txBody>
      </p:sp>
      <p:sp>
        <p:nvSpPr>
          <p:cNvPr id="16" name="Text 14"/>
          <p:cNvSpPr/>
          <p:nvPr/>
        </p:nvSpPr>
        <p:spPr>
          <a:xfrm>
            <a:off x="1097280" y="3816096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Fiber optic users churn most despite being premium service</a:t>
            </a:r>
          </a:p>
        </p:txBody>
      </p:sp>
      <p:sp>
        <p:nvSpPr>
          <p:cNvPr id="17" name="Shape 15"/>
          <p:cNvSpPr/>
          <p:nvPr/>
        </p:nvSpPr>
        <p:spPr>
          <a:xfrm>
            <a:off x="426720" y="4535424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8" name="Text 16"/>
          <p:cNvSpPr/>
          <p:nvPr/>
        </p:nvSpPr>
        <p:spPr>
          <a:xfrm>
            <a:off x="426720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0D1B2A"/>
                </a:solidFill>
              </a:rPr>
              <a:t>5</a:t>
            </a:r>
            <a:endParaRPr lang="en-US" sz="1733"/>
          </a:p>
        </p:txBody>
      </p:sp>
      <p:sp>
        <p:nvSpPr>
          <p:cNvPr id="19" name="Text 17"/>
          <p:cNvSpPr/>
          <p:nvPr/>
        </p:nvSpPr>
        <p:spPr>
          <a:xfrm>
            <a:off x="1097280" y="4584192"/>
            <a:ext cx="7071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33" dirty="0">
                <a:solidFill>
                  <a:schemeClr val="accent1">
                    <a:lumMod val="50000"/>
                  </a:schemeClr>
                </a:solidFill>
              </a:rPr>
              <a:t>Electronic check → highest churn; auto-pay methods → lowest</a:t>
            </a:r>
          </a:p>
        </p:txBody>
      </p:sp>
      <p:sp>
        <p:nvSpPr>
          <p:cNvPr id="20" name="Shape 18"/>
          <p:cNvSpPr/>
          <p:nvPr/>
        </p:nvSpPr>
        <p:spPr>
          <a:xfrm>
            <a:off x="8534400" y="1158240"/>
            <a:ext cx="3413760" cy="4693920"/>
          </a:xfrm>
          <a:prstGeom prst="rect">
            <a:avLst/>
          </a:prstGeom>
          <a:solidFill>
            <a:srgbClr val="1E3448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1" name="Text 19"/>
          <p:cNvSpPr/>
          <p:nvPr/>
        </p:nvSpPr>
        <p:spPr>
          <a:xfrm>
            <a:off x="8656320" y="1280160"/>
            <a:ext cx="316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>
                <a:solidFill>
                  <a:srgbClr val="06B6D4"/>
                </a:solidFill>
              </a:rPr>
              <a:t>🤝  Passing to</a:t>
            </a:r>
            <a:endParaRPr lang="en-US" sz="1867"/>
          </a:p>
          <a:p>
            <a:pPr marL="0" indent="0" algn="ctr">
              <a:buNone/>
            </a:pPr>
            <a:r>
              <a:rPr lang="en-US" sz="1867" b="1">
                <a:solidFill>
                  <a:srgbClr val="06B6D4"/>
                </a:solidFill>
              </a:rPr>
              <a:t>Edward</a:t>
            </a:r>
          </a:p>
        </p:txBody>
      </p:sp>
      <p:sp>
        <p:nvSpPr>
          <p:cNvPr id="22" name="Shape 20"/>
          <p:cNvSpPr/>
          <p:nvPr/>
        </p:nvSpPr>
        <p:spPr>
          <a:xfrm>
            <a:off x="8778240" y="2218944"/>
            <a:ext cx="2926080" cy="48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3" name="Text 21"/>
          <p:cNvSpPr/>
          <p:nvPr/>
        </p:nvSpPr>
        <p:spPr>
          <a:xfrm>
            <a:off x="8656320" y="2377440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✓  cleaned_telco_churn.csv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8656320" y="3011424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✓  Churn encoded as 0/1</a:t>
            </a:r>
            <a:endParaRPr lang="en-US" sz="1333"/>
          </a:p>
        </p:txBody>
      </p:sp>
      <p:sp>
        <p:nvSpPr>
          <p:cNvPr id="25" name="Text 23"/>
          <p:cNvSpPr/>
          <p:nvPr/>
        </p:nvSpPr>
        <p:spPr>
          <a:xfrm>
            <a:off x="8656320" y="3645408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✓  Top 5 features identified</a:t>
            </a:r>
            <a:endParaRPr lang="en-US" sz="1333"/>
          </a:p>
        </p:txBody>
      </p:sp>
      <p:sp>
        <p:nvSpPr>
          <p:cNvPr id="26" name="Text 24"/>
          <p:cNvSpPr/>
          <p:nvPr/>
        </p:nvSpPr>
        <p:spPr>
          <a:xfrm>
            <a:off x="8656320" y="4279392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✓  Recommend: handle class</a:t>
            </a:r>
            <a:endParaRPr lang="en-US" sz="1333"/>
          </a:p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imbalance (73/27 split)</a:t>
            </a:r>
            <a:endParaRPr lang="en-US" sz="1333"/>
          </a:p>
        </p:txBody>
      </p:sp>
      <p:sp>
        <p:nvSpPr>
          <p:cNvPr id="27" name="Text 25"/>
          <p:cNvSpPr/>
          <p:nvPr/>
        </p:nvSpPr>
        <p:spPr>
          <a:xfrm>
            <a:off x="8656320" y="4913376"/>
            <a:ext cx="316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>
                <a:solidFill>
                  <a:srgbClr val="FFFFFF"/>
                </a:solidFill>
              </a:rPr>
              <a:t>✓  Focus metric: Recall</a:t>
            </a:r>
            <a:endParaRPr lang="en-US" sz="1333"/>
          </a:p>
        </p:txBody>
      </p:sp>
      <p:sp>
        <p:nvSpPr>
          <p:cNvPr id="28" name="Shape 26"/>
          <p:cNvSpPr/>
          <p:nvPr/>
        </p:nvSpPr>
        <p:spPr>
          <a:xfrm>
            <a:off x="426720" y="5852160"/>
            <a:ext cx="7924800" cy="670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9" name="Text 27"/>
          <p:cNvSpPr/>
          <p:nvPr/>
        </p:nvSpPr>
        <p:spPr>
          <a:xfrm>
            <a:off x="609600" y="5876544"/>
            <a:ext cx="7559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i="1">
                <a:solidFill>
                  <a:srgbClr val="FFFFFF"/>
                </a:solidFill>
              </a:rPr>
              <a:t>Clean data is the foundation. Without solid EDA, the model has no reliable base to learn from.</a:t>
            </a:r>
            <a:endParaRPr lang="en-US" sz="1467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032A-5904-F276-AA14-BDF555F1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D78D20-EBB0-344F-BF11-C0EE8D7A6DB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A47F88-61DE-8EF7-1F11-FF192F763CD8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5D2F2B-A612-9C20-A1DE-F88C7CCB9D1B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700" b="1">
                <a:solidFill>
                  <a:srgbClr val="FFFFFF"/>
                </a:solidFill>
                <a:ea typeface="맑은 고딕"/>
              </a:rPr>
              <a:t>Feature</a:t>
            </a:r>
            <a:r>
              <a:rPr lang="ko-KR" altLang="en-US" sz="2700" b="1">
                <a:solidFill>
                  <a:srgbClr val="FFFFFF"/>
                </a:solidFill>
                <a:ea typeface="맑은 고딕"/>
              </a:rPr>
              <a:t> </a:t>
            </a:r>
            <a:r>
              <a:rPr lang="en-US" altLang="ko-KR" sz="2700" b="1">
                <a:solidFill>
                  <a:srgbClr val="FFFFFF"/>
                </a:solidFill>
                <a:ea typeface="맑은 고딕"/>
              </a:rPr>
              <a:t>Engineering</a:t>
            </a:r>
            <a:endParaRPr lang="en-US" sz="2700">
              <a:solidFill>
                <a:srgbClr val="000000"/>
              </a:solidFill>
              <a:ea typeface="맑은 고딕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A04B117-9DD9-7AF0-4FA6-2727DEC2CA3B}"/>
              </a:ext>
            </a:extLst>
          </p:cNvPr>
          <p:cNvSpPr/>
          <p:nvPr/>
        </p:nvSpPr>
        <p:spPr>
          <a:xfrm>
            <a:off x="401835" y="1462399"/>
            <a:ext cx="2785955" cy="3756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/>
              <a:t>Label Encoding</a:t>
            </a:r>
            <a:endParaRPr lang="en-CA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460F0F1-7A52-82FC-D965-63BFCF4835C4}"/>
              </a:ext>
            </a:extLst>
          </p:cNvPr>
          <p:cNvSpPr/>
          <p:nvPr/>
        </p:nvSpPr>
        <p:spPr>
          <a:xfrm>
            <a:off x="3362684" y="1462399"/>
            <a:ext cx="4371616" cy="3756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One-Hot Encoding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CFA30E6-B1A1-903E-C0C2-21B8EE2FA017}"/>
              </a:ext>
            </a:extLst>
          </p:cNvPr>
          <p:cNvSpPr/>
          <p:nvPr/>
        </p:nvSpPr>
        <p:spPr>
          <a:xfrm>
            <a:off x="7923993" y="1462399"/>
            <a:ext cx="3827989" cy="3756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Standard Scaling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CBE7166-EEFE-E6D8-9867-928F22E61DA2}"/>
              </a:ext>
            </a:extLst>
          </p:cNvPr>
          <p:cNvSpPr/>
          <p:nvPr/>
        </p:nvSpPr>
        <p:spPr>
          <a:xfrm>
            <a:off x="401836" y="1987183"/>
            <a:ext cx="1426964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Gender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347B238-B39B-C14C-F01E-F312B1140F28}"/>
              </a:ext>
            </a:extLst>
          </p:cNvPr>
          <p:cNvSpPr/>
          <p:nvPr/>
        </p:nvSpPr>
        <p:spPr>
          <a:xfrm>
            <a:off x="401836" y="3614661"/>
            <a:ext cx="1426964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Partner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582247A-21C2-4812-6ABB-292FB108B250}"/>
              </a:ext>
            </a:extLst>
          </p:cNvPr>
          <p:cNvSpPr/>
          <p:nvPr/>
        </p:nvSpPr>
        <p:spPr>
          <a:xfrm>
            <a:off x="401836" y="5254386"/>
            <a:ext cx="1426964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Churn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5BE1BB9-226B-C592-E106-48408F84EC30}"/>
              </a:ext>
            </a:extLst>
          </p:cNvPr>
          <p:cNvSpPr/>
          <p:nvPr/>
        </p:nvSpPr>
        <p:spPr>
          <a:xfrm>
            <a:off x="1923671" y="1987183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Female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B393671-553B-729D-C697-86E6F811AF85}"/>
              </a:ext>
            </a:extLst>
          </p:cNvPr>
          <p:cNvSpPr/>
          <p:nvPr/>
        </p:nvSpPr>
        <p:spPr>
          <a:xfrm>
            <a:off x="1923671" y="2476763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Male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964E28C-39B7-F1EB-FBCF-1B06B13D1D88}"/>
              </a:ext>
            </a:extLst>
          </p:cNvPr>
          <p:cNvSpPr/>
          <p:nvPr/>
        </p:nvSpPr>
        <p:spPr>
          <a:xfrm>
            <a:off x="1923671" y="3614661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No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4C89537-C223-8F48-55C6-41D0338E2076}"/>
              </a:ext>
            </a:extLst>
          </p:cNvPr>
          <p:cNvSpPr/>
          <p:nvPr/>
        </p:nvSpPr>
        <p:spPr>
          <a:xfrm>
            <a:off x="1923671" y="4118835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Yes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0D69260-57DC-3C70-9978-29A1E7741B62}"/>
              </a:ext>
            </a:extLst>
          </p:cNvPr>
          <p:cNvSpPr/>
          <p:nvPr/>
        </p:nvSpPr>
        <p:spPr>
          <a:xfrm>
            <a:off x="1923671" y="5254386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No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1BC64D7-7596-9CFF-63EF-065F5F6B43AA}"/>
              </a:ext>
            </a:extLst>
          </p:cNvPr>
          <p:cNvSpPr/>
          <p:nvPr/>
        </p:nvSpPr>
        <p:spPr>
          <a:xfrm>
            <a:off x="1923671" y="5721170"/>
            <a:ext cx="1264120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Yes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BF174E9-0B94-C9AF-CC05-4A80B5F90F16}"/>
              </a:ext>
            </a:extLst>
          </p:cNvPr>
          <p:cNvSpPr/>
          <p:nvPr/>
        </p:nvSpPr>
        <p:spPr>
          <a:xfrm>
            <a:off x="3362683" y="1987183"/>
            <a:ext cx="2229147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err="1"/>
              <a:t>MultipleLines</a:t>
            </a:r>
            <a:endParaRPr lang="en-CA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B04DE70-FE4A-953D-B3F1-6CE05B3A7041}"/>
              </a:ext>
            </a:extLst>
          </p:cNvPr>
          <p:cNvSpPr/>
          <p:nvPr/>
        </p:nvSpPr>
        <p:spPr>
          <a:xfrm>
            <a:off x="3362684" y="3614661"/>
            <a:ext cx="2229148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err="1"/>
              <a:t>InternetService</a:t>
            </a:r>
            <a:endParaRPr lang="en-CA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6DA2986-B8F5-FBE2-7136-E11043D168A5}"/>
              </a:ext>
            </a:extLst>
          </p:cNvPr>
          <p:cNvSpPr/>
          <p:nvPr/>
        </p:nvSpPr>
        <p:spPr>
          <a:xfrm>
            <a:off x="3362683" y="5254386"/>
            <a:ext cx="2229147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/>
              <a:t>Contract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7FA1472-DDA4-E14B-0F21-BC3134224458}"/>
              </a:ext>
            </a:extLst>
          </p:cNvPr>
          <p:cNvSpPr/>
          <p:nvPr/>
        </p:nvSpPr>
        <p:spPr>
          <a:xfrm>
            <a:off x="5712743" y="1987183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No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B36E6BC-B30F-8858-8C1D-7703E6042059}"/>
              </a:ext>
            </a:extLst>
          </p:cNvPr>
          <p:cNvSpPr/>
          <p:nvPr/>
        </p:nvSpPr>
        <p:spPr>
          <a:xfrm>
            <a:off x="5712743" y="2476763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Yes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888D47-6F3E-8D74-4377-82388935B9F6}"/>
              </a:ext>
            </a:extLst>
          </p:cNvPr>
          <p:cNvSpPr/>
          <p:nvPr/>
        </p:nvSpPr>
        <p:spPr>
          <a:xfrm>
            <a:off x="5712743" y="2971538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No Phone Service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030D1A-2321-9107-1A4E-95196E1CC03B}"/>
              </a:ext>
            </a:extLst>
          </p:cNvPr>
          <p:cNvSpPr/>
          <p:nvPr/>
        </p:nvSpPr>
        <p:spPr>
          <a:xfrm>
            <a:off x="5712743" y="3614661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DSL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17AA338-9D9E-562A-EF39-FFB525360C20}"/>
              </a:ext>
            </a:extLst>
          </p:cNvPr>
          <p:cNvSpPr/>
          <p:nvPr/>
        </p:nvSpPr>
        <p:spPr>
          <a:xfrm>
            <a:off x="5712743" y="4118835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No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9B8F457-AC3B-4B5E-B516-A108682BFF94}"/>
              </a:ext>
            </a:extLst>
          </p:cNvPr>
          <p:cNvSpPr/>
          <p:nvPr/>
        </p:nvSpPr>
        <p:spPr>
          <a:xfrm>
            <a:off x="5712743" y="4623009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Fiber optic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BFAC5DD-1FC5-E7EE-B570-24FA3717480A}"/>
              </a:ext>
            </a:extLst>
          </p:cNvPr>
          <p:cNvSpPr/>
          <p:nvPr/>
        </p:nvSpPr>
        <p:spPr>
          <a:xfrm>
            <a:off x="5712743" y="5721170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One year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E1AD50-2798-07C9-0383-EC673DA83763}"/>
              </a:ext>
            </a:extLst>
          </p:cNvPr>
          <p:cNvSpPr/>
          <p:nvPr/>
        </p:nvSpPr>
        <p:spPr>
          <a:xfrm>
            <a:off x="5712743" y="5254386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Month-to-month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01D4506-E3A2-6A41-1FF5-CE50C9BB37E8}"/>
              </a:ext>
            </a:extLst>
          </p:cNvPr>
          <p:cNvSpPr/>
          <p:nvPr/>
        </p:nvSpPr>
        <p:spPr>
          <a:xfrm>
            <a:off x="5712743" y="6209743"/>
            <a:ext cx="2021557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Two year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C6B2829-A9B6-D700-6641-D8C77A73CBC3}"/>
              </a:ext>
            </a:extLst>
          </p:cNvPr>
          <p:cNvSpPr/>
          <p:nvPr/>
        </p:nvSpPr>
        <p:spPr>
          <a:xfrm>
            <a:off x="7923994" y="1987183"/>
            <a:ext cx="2134406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>
                <a:latin typeface="Courier New" panose="02070309020205020404" pitchFamily="49" charset="0"/>
              </a:rPr>
              <a:t>Tenure</a:t>
            </a:r>
            <a:endParaRPr lang="en-CA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FE1AA26-9AEE-D1FF-24A0-C31FF7AD23E8}"/>
              </a:ext>
            </a:extLst>
          </p:cNvPr>
          <p:cNvSpPr/>
          <p:nvPr/>
        </p:nvSpPr>
        <p:spPr>
          <a:xfrm>
            <a:off x="7923994" y="3614661"/>
            <a:ext cx="2134406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err="1">
                <a:latin typeface="Courier New" panose="02070309020205020404" pitchFamily="49" charset="0"/>
              </a:rPr>
              <a:t>MonthlyCharges</a:t>
            </a:r>
            <a:endParaRPr lang="en-CA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46FFF6A-37F4-085D-1D74-1CB1F93C7097}"/>
              </a:ext>
            </a:extLst>
          </p:cNvPr>
          <p:cNvSpPr/>
          <p:nvPr/>
        </p:nvSpPr>
        <p:spPr>
          <a:xfrm>
            <a:off x="7923994" y="5254386"/>
            <a:ext cx="2134406" cy="3756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err="1">
                <a:latin typeface="Courier New" panose="02070309020205020404" pitchFamily="49" charset="0"/>
              </a:rPr>
              <a:t>TotalCharges</a:t>
            </a:r>
            <a:endParaRPr lang="en-CA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E5FD1E3-717A-E90C-9FC1-19ACF25ACB57}"/>
              </a:ext>
            </a:extLst>
          </p:cNvPr>
          <p:cNvSpPr/>
          <p:nvPr/>
        </p:nvSpPr>
        <p:spPr>
          <a:xfrm>
            <a:off x="10163175" y="1987183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0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9731859-6C03-3962-665D-3D00C231B59B}"/>
              </a:ext>
            </a:extLst>
          </p:cNvPr>
          <p:cNvSpPr/>
          <p:nvPr/>
        </p:nvSpPr>
        <p:spPr>
          <a:xfrm>
            <a:off x="10163175" y="2476763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72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ABD6C51-3280-0AF3-0402-468B00AC82B9}"/>
              </a:ext>
            </a:extLst>
          </p:cNvPr>
          <p:cNvSpPr/>
          <p:nvPr/>
        </p:nvSpPr>
        <p:spPr>
          <a:xfrm>
            <a:off x="10163175" y="3614661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18.25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7EDAD0E-14B1-6F4E-2A15-2A73CA14E6E1}"/>
              </a:ext>
            </a:extLst>
          </p:cNvPr>
          <p:cNvSpPr/>
          <p:nvPr/>
        </p:nvSpPr>
        <p:spPr>
          <a:xfrm>
            <a:off x="10163175" y="4118835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118.75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B06669AE-0F4C-731F-9F7A-2C71DD63CFBD}"/>
              </a:ext>
            </a:extLst>
          </p:cNvPr>
          <p:cNvSpPr/>
          <p:nvPr/>
        </p:nvSpPr>
        <p:spPr>
          <a:xfrm>
            <a:off x="10163174" y="5254386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18.8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0CFAFD-5D7E-83FC-8A00-4D7E4AB221A5}"/>
              </a:ext>
            </a:extLst>
          </p:cNvPr>
          <p:cNvSpPr/>
          <p:nvPr/>
        </p:nvSpPr>
        <p:spPr>
          <a:xfrm>
            <a:off x="10163174" y="5721170"/>
            <a:ext cx="1588808" cy="37561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8684.8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DAB0DA0-8441-0262-E12A-A6B982913861}"/>
              </a:ext>
            </a:extLst>
          </p:cNvPr>
          <p:cNvSpPr/>
          <p:nvPr/>
        </p:nvSpPr>
        <p:spPr>
          <a:xfrm>
            <a:off x="1930929" y="1994440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2255E3A-DA35-0CB9-CBE1-D49033776954}"/>
              </a:ext>
            </a:extLst>
          </p:cNvPr>
          <p:cNvSpPr/>
          <p:nvPr/>
        </p:nvSpPr>
        <p:spPr>
          <a:xfrm>
            <a:off x="1930929" y="2471925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1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5416EDA-5F32-822D-6435-6DE1D56B3EDA}"/>
              </a:ext>
            </a:extLst>
          </p:cNvPr>
          <p:cNvSpPr/>
          <p:nvPr/>
        </p:nvSpPr>
        <p:spPr>
          <a:xfrm>
            <a:off x="1930929" y="3609823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3D5E139-63DB-9733-BE83-1EF5284B4F83}"/>
              </a:ext>
            </a:extLst>
          </p:cNvPr>
          <p:cNvSpPr/>
          <p:nvPr/>
        </p:nvSpPr>
        <p:spPr>
          <a:xfrm>
            <a:off x="1930929" y="4113997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80840D19-A482-F1F0-3BBD-AB92EB98E930}"/>
              </a:ext>
            </a:extLst>
          </p:cNvPr>
          <p:cNvSpPr/>
          <p:nvPr/>
        </p:nvSpPr>
        <p:spPr>
          <a:xfrm>
            <a:off x="1943024" y="5249548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EC8DA3D-B75B-C687-26E3-9651F9855DC5}"/>
              </a:ext>
            </a:extLst>
          </p:cNvPr>
          <p:cNvSpPr/>
          <p:nvPr/>
        </p:nvSpPr>
        <p:spPr>
          <a:xfrm>
            <a:off x="1930929" y="5728427"/>
            <a:ext cx="1264120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1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3083F63-1AF1-766D-C2BA-E29BFF8BD210}"/>
              </a:ext>
            </a:extLst>
          </p:cNvPr>
          <p:cNvSpPr/>
          <p:nvPr/>
        </p:nvSpPr>
        <p:spPr>
          <a:xfrm>
            <a:off x="3360552" y="1994440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>
                <a:effectLst/>
              </a:rPr>
              <a:t>MultipleLines_No</a:t>
            </a:r>
            <a:endParaRPr lang="en-CA">
              <a:effectLst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A0B01E1-060B-E931-FB83-BDD87BDD5503}"/>
              </a:ext>
            </a:extLst>
          </p:cNvPr>
          <p:cNvSpPr/>
          <p:nvPr/>
        </p:nvSpPr>
        <p:spPr>
          <a:xfrm>
            <a:off x="3360552" y="2480601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>
                <a:effectLst/>
              </a:rPr>
              <a:t>MultipleLines_Yes</a:t>
            </a:r>
            <a:endParaRPr lang="en-CA">
              <a:effectLst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C4DFB8A-0C5F-CAEC-295C-C593447F58DB}"/>
              </a:ext>
            </a:extLst>
          </p:cNvPr>
          <p:cNvSpPr/>
          <p:nvPr/>
        </p:nvSpPr>
        <p:spPr>
          <a:xfrm>
            <a:off x="3360552" y="2976941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>
                <a:effectLst/>
              </a:rPr>
              <a:t>MultipleLines_Nophone</a:t>
            </a:r>
            <a:r>
              <a:rPr lang="en-CA">
                <a:effectLst/>
              </a:rPr>
              <a:t> service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218B4E0-B0E1-EA20-CD38-34F4863082E7}"/>
              </a:ext>
            </a:extLst>
          </p:cNvPr>
          <p:cNvSpPr/>
          <p:nvPr/>
        </p:nvSpPr>
        <p:spPr>
          <a:xfrm>
            <a:off x="3365002" y="3620248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InternetService_DSL</a:t>
            </a:r>
            <a:endParaRPr lang="en-CA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5338BE0-A0BD-8592-5BC6-84DF20A7A1AB}"/>
              </a:ext>
            </a:extLst>
          </p:cNvPr>
          <p:cNvSpPr/>
          <p:nvPr/>
        </p:nvSpPr>
        <p:spPr>
          <a:xfrm>
            <a:off x="3365002" y="4118504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InternetService_No</a:t>
            </a:r>
            <a:endParaRPr lang="en-CA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BEB31AF-B296-C7B2-F0B9-98B5B87A8B7D}"/>
              </a:ext>
            </a:extLst>
          </p:cNvPr>
          <p:cNvSpPr/>
          <p:nvPr/>
        </p:nvSpPr>
        <p:spPr>
          <a:xfrm>
            <a:off x="3365002" y="4626939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InternetService_Fiber</a:t>
            </a:r>
            <a:endParaRPr lang="en-CA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81AD0D10-A98D-0990-8365-351FFEFC84D1}"/>
              </a:ext>
            </a:extLst>
          </p:cNvPr>
          <p:cNvSpPr/>
          <p:nvPr/>
        </p:nvSpPr>
        <p:spPr>
          <a:xfrm>
            <a:off x="3365002" y="5259973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Contract_Month</a:t>
            </a:r>
            <a:r>
              <a:rPr lang="en-CA"/>
              <a:t>-to-month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DA37C893-1F22-0459-3F61-61B1C82F7761}"/>
              </a:ext>
            </a:extLst>
          </p:cNvPr>
          <p:cNvSpPr/>
          <p:nvPr/>
        </p:nvSpPr>
        <p:spPr>
          <a:xfrm>
            <a:off x="3365002" y="5734039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Contract_One</a:t>
            </a:r>
            <a:r>
              <a:rPr lang="en-CA"/>
              <a:t> year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9224E93-D178-7EC7-0D4F-24319BEDA017}"/>
              </a:ext>
            </a:extLst>
          </p:cNvPr>
          <p:cNvSpPr/>
          <p:nvPr/>
        </p:nvSpPr>
        <p:spPr>
          <a:xfrm>
            <a:off x="3365002" y="6194093"/>
            <a:ext cx="4356815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err="1"/>
              <a:t>Contract_Two</a:t>
            </a:r>
            <a:r>
              <a:rPr lang="en-CA"/>
              <a:t> year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08195F7C-6A7B-D13A-5904-DD3DA89DC94C}"/>
              </a:ext>
            </a:extLst>
          </p:cNvPr>
          <p:cNvSpPr/>
          <p:nvPr/>
        </p:nvSpPr>
        <p:spPr>
          <a:xfrm>
            <a:off x="10058400" y="1994441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-1.280248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1D8D39-3D26-AEC7-FFB2-2045AE9CDE78}"/>
              </a:ext>
            </a:extLst>
          </p:cNvPr>
          <p:cNvSpPr/>
          <p:nvPr/>
        </p:nvSpPr>
        <p:spPr>
          <a:xfrm>
            <a:off x="10058400" y="2471926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1.612573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0556CBE-0EA5-952A-E9FA-112D39513C57}"/>
              </a:ext>
            </a:extLst>
          </p:cNvPr>
          <p:cNvSpPr/>
          <p:nvPr/>
        </p:nvSpPr>
        <p:spPr>
          <a:xfrm>
            <a:off x="10058400" y="3614150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-1.547283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A03DEDC-3825-994A-51E1-022307534219}"/>
              </a:ext>
            </a:extLst>
          </p:cNvPr>
          <p:cNvSpPr/>
          <p:nvPr/>
        </p:nvSpPr>
        <p:spPr>
          <a:xfrm>
            <a:off x="10058400" y="4115825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1.793381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F206187-9F5F-84B3-EA9C-DBB9BAD5295E}"/>
              </a:ext>
            </a:extLst>
          </p:cNvPr>
          <p:cNvSpPr/>
          <p:nvPr/>
        </p:nvSpPr>
        <p:spPr>
          <a:xfrm>
            <a:off x="10058400" y="5259973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Min : -0.999069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0BE5D1C-D8F7-AB3D-7220-4F207A2D2138}"/>
              </a:ext>
            </a:extLst>
          </p:cNvPr>
          <p:cNvSpPr/>
          <p:nvPr/>
        </p:nvSpPr>
        <p:spPr>
          <a:xfrm>
            <a:off x="10058400" y="5721944"/>
            <a:ext cx="1845983" cy="3756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Max : 2.824261</a:t>
            </a:r>
          </a:p>
        </p:txBody>
      </p:sp>
    </p:spTree>
    <p:extLst>
      <p:ext uri="{BB962C8B-B14F-4D97-AF65-F5344CB8AC3E}">
        <p14:creationId xmlns:p14="http://schemas.microsoft.com/office/powerpoint/2010/main" val="358685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/>
      <p:bldP spid="198" grpId="0" animBg="1"/>
      <p:bldP spid="200" grpId="0" animBg="1"/>
      <p:bldP spid="202" grpId="0" animBg="1"/>
      <p:bldP spid="204" grpId="0" animBg="1"/>
      <p:bldP spid="206" grpId="0" animBg="1"/>
      <p:bldP spid="208" grpId="0" animBg="1"/>
      <p:bldP spid="210" grpId="0" animBg="1"/>
      <p:bldP spid="212" grpId="0" animBg="1"/>
      <p:bldP spid="214" grpId="0" animBg="1"/>
      <p:bldP spid="216" grpId="0" animBg="1"/>
      <p:bldP spid="218" grpId="0" animBg="1"/>
      <p:bldP spid="220" grpId="0" animBg="1"/>
      <p:bldP spid="222" grpId="0" animBg="1"/>
      <p:bldP spid="224" grpId="0" animBg="1"/>
      <p:bldP spid="226" grpId="0" animBg="1"/>
      <p:bldP spid="228" grpId="0" animBg="1"/>
      <p:bldP spid="230" grpId="0" animBg="1"/>
      <p:bldP spid="232" grpId="0" animBg="1"/>
      <p:bldP spid="234" grpId="0" animBg="1"/>
      <p:bldP spid="2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FE6B-70B6-AD78-7133-B0F8A749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553CF5-AF78-145C-7F39-20894AE48DE7}"/>
              </a:ext>
            </a:extLst>
          </p:cNvPr>
          <p:cNvSpPr/>
          <p:nvPr/>
        </p:nvSpPr>
        <p:spPr>
          <a:xfrm>
            <a:off x="6631188" y="1346879"/>
            <a:ext cx="5026884" cy="1226707"/>
          </a:xfrm>
          <a:prstGeom prst="roundRect">
            <a:avLst>
              <a:gd name="adj" fmla="val 10142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/>
              <a:t>Data Splitting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EF3AA7-1FE8-459A-E48C-AE43A47AB5CB}"/>
              </a:ext>
            </a:extLst>
          </p:cNvPr>
          <p:cNvSpPr/>
          <p:nvPr/>
        </p:nvSpPr>
        <p:spPr>
          <a:xfrm>
            <a:off x="6787986" y="1777063"/>
            <a:ext cx="3445220" cy="771809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2400"/>
              <a:t>Train</a:t>
            </a:r>
          </a:p>
          <a:p>
            <a:pPr algn="ctr"/>
            <a:r>
              <a:rPr lang="en-CA" sz="2400"/>
              <a:t>80%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73395E-91F7-4E63-2DE9-7E28102C4866}"/>
              </a:ext>
            </a:extLst>
          </p:cNvPr>
          <p:cNvSpPr/>
          <p:nvPr/>
        </p:nvSpPr>
        <p:spPr>
          <a:xfrm>
            <a:off x="10233206" y="1777063"/>
            <a:ext cx="1260390" cy="77180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2400"/>
              <a:t>Test</a:t>
            </a:r>
          </a:p>
          <a:p>
            <a:pPr algn="ctr"/>
            <a:r>
              <a:rPr lang="en-CA" sz="2400"/>
              <a:t>20%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549722-52E6-C6E3-B9C0-CC3EBAE7AC05}"/>
              </a:ext>
            </a:extLst>
          </p:cNvPr>
          <p:cNvSpPr/>
          <p:nvPr/>
        </p:nvSpPr>
        <p:spPr>
          <a:xfrm>
            <a:off x="249345" y="1346879"/>
            <a:ext cx="5771359" cy="5301055"/>
          </a:xfrm>
          <a:prstGeom prst="roundRect">
            <a:avLst>
              <a:gd name="adj" fmla="val 4302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/>
              <a:t>Comparison of 8 Classification Algorithms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6159BA-4F38-10D9-3718-71C1D2BA1CE2}"/>
              </a:ext>
            </a:extLst>
          </p:cNvPr>
          <p:cNvSpPr/>
          <p:nvPr/>
        </p:nvSpPr>
        <p:spPr>
          <a:xfrm>
            <a:off x="402345" y="1972291"/>
            <a:ext cx="263895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LogisticRegression</a:t>
            </a:r>
            <a:endParaRPr lang="en-CA" sz="1600" b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DED85D-C72C-D4D4-FAFF-3F6176D17C89}"/>
              </a:ext>
            </a:extLst>
          </p:cNvPr>
          <p:cNvSpPr/>
          <p:nvPr/>
        </p:nvSpPr>
        <p:spPr>
          <a:xfrm>
            <a:off x="3192179" y="1972291"/>
            <a:ext cx="270199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KNeighborsClassifier</a:t>
            </a:r>
            <a:endParaRPr lang="en-CA" sz="16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B8F072-28C8-F4B2-EC18-9F9DE977669B}"/>
              </a:ext>
            </a:extLst>
          </p:cNvPr>
          <p:cNvSpPr/>
          <p:nvPr/>
        </p:nvSpPr>
        <p:spPr>
          <a:xfrm>
            <a:off x="402345" y="3160136"/>
            <a:ext cx="263895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/>
              <a:t>SVM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9DE121-139F-F140-9632-B1B2B19CB1F8}"/>
              </a:ext>
            </a:extLst>
          </p:cNvPr>
          <p:cNvSpPr/>
          <p:nvPr/>
        </p:nvSpPr>
        <p:spPr>
          <a:xfrm>
            <a:off x="3192179" y="3160136"/>
            <a:ext cx="270199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DecisionTreeClassifier</a:t>
            </a:r>
            <a:endParaRPr lang="en-CA" sz="1600" b="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8E81BE-9C40-4F4B-4534-5FED2948CE57}"/>
              </a:ext>
            </a:extLst>
          </p:cNvPr>
          <p:cNvSpPr/>
          <p:nvPr/>
        </p:nvSpPr>
        <p:spPr>
          <a:xfrm>
            <a:off x="402345" y="4347981"/>
            <a:ext cx="263895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RandomForestClassifier</a:t>
            </a:r>
            <a:endParaRPr lang="en-CA" sz="1600" b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938C73-C85C-BAE1-2DE2-2CCDDE5DEECB}"/>
              </a:ext>
            </a:extLst>
          </p:cNvPr>
          <p:cNvSpPr/>
          <p:nvPr/>
        </p:nvSpPr>
        <p:spPr>
          <a:xfrm>
            <a:off x="3192179" y="4347981"/>
            <a:ext cx="270199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GradientBoostingClassifier</a:t>
            </a:r>
            <a:endParaRPr lang="en-CA" sz="1600" b="1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6262F7-63B4-2CFC-29CA-EC0942B8F90B}"/>
              </a:ext>
            </a:extLst>
          </p:cNvPr>
          <p:cNvSpPr/>
          <p:nvPr/>
        </p:nvSpPr>
        <p:spPr>
          <a:xfrm>
            <a:off x="402345" y="5535827"/>
            <a:ext cx="263895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/>
              <a:t>Naïve Bayes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EC707E-2BDA-A322-00E9-AEF284D963BE}"/>
              </a:ext>
            </a:extLst>
          </p:cNvPr>
          <p:cNvSpPr/>
          <p:nvPr/>
        </p:nvSpPr>
        <p:spPr>
          <a:xfrm>
            <a:off x="3192179" y="5535827"/>
            <a:ext cx="2701994" cy="9391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err="1"/>
              <a:t>XGBClassifier</a:t>
            </a:r>
            <a:endParaRPr lang="en-CA" sz="1600" b="1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18DC2C-D046-02F1-968E-807E4F337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200" y="2647728"/>
            <a:ext cx="5948474" cy="3996842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EFBCD17E-F1D4-24EA-43A8-CFFBB641B3B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F28B457-F939-C862-5EC5-F9D9A4D3FE6D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D923E7B-B4B0-995A-55FC-DC1161F89580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650" b="1">
                <a:solidFill>
                  <a:srgbClr val="FFFFFF"/>
                </a:solidFill>
                <a:ea typeface="맑은 고딕"/>
                <a:cs typeface="Calibri"/>
              </a:rPr>
              <a:t>Dataset Splitting and Training Strategy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097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7FC6-B74C-11F4-3AE3-0569081F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5CFA9454-BE83-0F04-1997-5BB7355EF4F2}"/>
              </a:ext>
            </a:extLst>
          </p:cNvPr>
          <p:cNvGraphicFramePr/>
          <p:nvPr/>
        </p:nvGraphicFramePr>
        <p:xfrm>
          <a:off x="65902" y="1427380"/>
          <a:ext cx="5980670" cy="5275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365818-6B17-6048-F4D7-A0B364B3F02C}"/>
              </a:ext>
            </a:extLst>
          </p:cNvPr>
          <p:cNvSpPr/>
          <p:nvPr/>
        </p:nvSpPr>
        <p:spPr>
          <a:xfrm>
            <a:off x="159589" y="2323418"/>
            <a:ext cx="5929380" cy="931985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CA" sz="2000" b="1" kern="1200"/>
              <a:t>0.84</a:t>
            </a:r>
            <a:br>
              <a:rPr lang="en-CA" sz="2000" b="1" kern="1200"/>
            </a:br>
            <a:endParaRPr lang="en-CA" sz="1000" b="1" kern="1200"/>
          </a:p>
          <a:p>
            <a:pPr algn="r"/>
            <a:r>
              <a:rPr lang="en-CA" sz="2000" b="1"/>
              <a:t>0.83</a:t>
            </a:r>
            <a:endParaRPr lang="en-CA" sz="2000" b="1" kern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ABEE48-9062-38CA-0627-4AB5AF40F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307" y="1606252"/>
            <a:ext cx="6096000" cy="491798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87BD1C-4ED3-86A8-6C2A-3803B8D6EC82}"/>
              </a:ext>
            </a:extLst>
          </p:cNvPr>
          <p:cNvSpPr/>
          <p:nvPr/>
        </p:nvSpPr>
        <p:spPr>
          <a:xfrm>
            <a:off x="3212835" y="3066404"/>
            <a:ext cx="5873578" cy="2082121"/>
          </a:xfrm>
          <a:prstGeom prst="roundRect">
            <a:avLst>
              <a:gd name="adj" fmla="val 4302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>
                <a:solidFill>
                  <a:schemeClr val="accent1">
                    <a:lumMod val="60000"/>
                    <a:lumOff val="40000"/>
                  </a:schemeClr>
                </a:solidFill>
              </a:rPr>
              <a:t>Evaluation Metric</a:t>
            </a:r>
          </a:p>
          <a:p>
            <a:pPr algn="ctr"/>
            <a:endParaRPr lang="en-CA" sz="2000"/>
          </a:p>
          <a:p>
            <a:r>
              <a:rPr lang="en-CA" sz="4400"/>
              <a:t>  CM         ROC       Recall</a:t>
            </a:r>
            <a:br>
              <a:rPr lang="en-CA" sz="4400"/>
            </a:br>
            <a:r>
              <a:rPr lang="en-CA" sz="1400"/>
              <a:t>   Confusion Matrix           Roc Curve Core Metric                    Key Indicator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85AF2695-FDAA-DFD0-E55C-5E4B87B1608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DDEE240-0B0B-9190-F9B2-B166DD721C20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F33DCC5-C5B0-CD99-86DA-30C3EEB61D08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Model Performance Evaluation and Selection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6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74D9-71B2-D3A8-DD2D-DE5F5B2B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6129E-591B-D890-E536-2457F145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42" y="1129447"/>
            <a:ext cx="5599155" cy="53169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BD327-978F-1C6E-104F-C9E57EEA9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86" y="1403581"/>
            <a:ext cx="5898534" cy="4767635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9C742C30-7B6A-7AFF-766E-F2A44F1288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7C4F1A3-6C9E-F941-14C7-9942950E11FB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AE785BF-B053-6FE0-900E-9D225F8AD9FA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Model analysis - SHAP</a:t>
            </a:r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A913B-64C9-30DA-AAD0-AB22F18E5367}"/>
              </a:ext>
            </a:extLst>
          </p:cNvPr>
          <p:cNvSpPr/>
          <p:nvPr/>
        </p:nvSpPr>
        <p:spPr>
          <a:xfrm>
            <a:off x="585657" y="1235836"/>
            <a:ext cx="4475108" cy="564840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CA" sz="2000" b="1" kern="12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6940C9-92DA-7659-10D9-D4B04A7D9325}"/>
              </a:ext>
            </a:extLst>
          </p:cNvPr>
          <p:cNvSpPr/>
          <p:nvPr/>
        </p:nvSpPr>
        <p:spPr>
          <a:xfrm>
            <a:off x="6160289" y="1717099"/>
            <a:ext cx="5758476" cy="717240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defPPr>
              <a:defRPr lang="en-US"/>
            </a:defPPr>
            <a:lvl1pPr marL="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CA" sz="2000" b="1" kern="1200"/>
          </a:p>
        </p:txBody>
      </p:sp>
    </p:spTree>
    <p:extLst>
      <p:ext uri="{BB962C8B-B14F-4D97-AF65-F5344CB8AC3E}">
        <p14:creationId xmlns:p14="http://schemas.microsoft.com/office/powerpoint/2010/main" val="327044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B6797-7D04-B6B7-7392-EB17C456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06B0310-10EA-C9B5-F8D9-AB6F90AE2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9" y="1323744"/>
            <a:ext cx="11723854" cy="5426013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360D4198-4F99-FDC8-1E09-BF7D20026CE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4FEECAA-AC57-5821-E2B5-6FEA02D9A631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D27B2BA-AC33-03D0-737B-1A5404941771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Model analysis </a:t>
            </a:r>
            <a:r>
              <a:rPr lang="en-US" altLang="ko-KR" sz="2650">
                <a:solidFill>
                  <a:srgbClr val="FFFFFF"/>
                </a:solidFill>
                <a:ea typeface="+mn-lt"/>
                <a:cs typeface="+mn-lt"/>
              </a:rPr>
              <a:t>–</a:t>
            </a:r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 SHAP </a:t>
            </a:r>
            <a:r>
              <a:rPr lang="en-US" altLang="ko-KR" sz="2650">
                <a:solidFill>
                  <a:srgbClr val="FFFFFF"/>
                </a:solidFill>
                <a:ea typeface="+mn-lt"/>
                <a:cs typeface="+mn-lt"/>
              </a:rPr>
              <a:t>Dependence</a:t>
            </a:r>
            <a:r>
              <a:rPr lang="ko-KR" altLang="en-US" sz="265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altLang="ko-KR" sz="2650">
                <a:solidFill>
                  <a:srgbClr val="FFFFFF"/>
                </a:solidFill>
                <a:ea typeface="+mn-lt"/>
                <a:cs typeface="+mn-lt"/>
              </a:rPr>
              <a:t>Plot</a:t>
            </a:r>
            <a:endParaRPr lang="ko-KR" altLang="en-US" sz="2650">
              <a:solidFill>
                <a:srgbClr val="FFFFFF"/>
              </a:solidFill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F50E78-18F5-EEBC-F598-74C74BDCEBA3}"/>
              </a:ext>
            </a:extLst>
          </p:cNvPr>
          <p:cNvSpPr/>
          <p:nvPr/>
        </p:nvSpPr>
        <p:spPr>
          <a:xfrm>
            <a:off x="9790477" y="2021586"/>
            <a:ext cx="870492" cy="1860238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CA" sz="2000" b="1" kern="12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F0B5A3-CDEB-0381-6AFB-9FBEB20597BB}"/>
              </a:ext>
            </a:extLst>
          </p:cNvPr>
          <p:cNvSpPr/>
          <p:nvPr/>
        </p:nvSpPr>
        <p:spPr>
          <a:xfrm>
            <a:off x="1402541" y="4728172"/>
            <a:ext cx="971431" cy="1607887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CA" sz="2000" b="1" kern="12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A576AD-4F05-BC57-2852-93BDB8AF4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59" y="1323744"/>
            <a:ext cx="11726330" cy="5426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1000D5-87F4-8A8F-9636-5F7078DB1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71" y="1322240"/>
            <a:ext cx="11734156" cy="543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5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1EB4-9A60-BF29-403F-E6C89236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F4CC09-EF34-19B4-BCD4-CFF36B73C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17" y="1028333"/>
            <a:ext cx="8086185" cy="1370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64143-3231-AF7F-58CD-AC2509E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524" y="2512159"/>
            <a:ext cx="8156325" cy="4342833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E9C8A43D-2051-FB04-9402-AB9956A3178A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96B4611-2D5D-BA1F-8E66-72CFCE67886E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C5B75EA-579D-3237-35EC-4BC40DDDA153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Model analysis - SHAP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9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FB5E-E472-A6E0-C41A-857FED3A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43C840-0D25-8C13-3629-CB8F854DC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920"/>
          <a:stretch>
            <a:fillRect/>
          </a:stretch>
        </p:blipFill>
        <p:spPr>
          <a:xfrm>
            <a:off x="298551" y="1359899"/>
            <a:ext cx="6470601" cy="5500163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6D3455F-645E-5283-A87C-A64DC6F71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70358" y="1359242"/>
            <a:ext cx="5074508" cy="5498757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54716AA-3AC5-B1AF-6748-CDDC16313A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0785B061-96D2-7CE6-CB2F-6AE3CE1A0365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BE0ECD2-3FE6-1EB7-A216-DDA95530C929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2650">
                <a:solidFill>
                  <a:srgbClr val="FFFFFF"/>
                </a:solidFill>
                <a:ea typeface="+mn-lt"/>
                <a:cs typeface="+mn-lt"/>
              </a:rPr>
              <a:t>Model analysis - </a:t>
            </a:r>
            <a:r>
              <a:rPr lang="en-US" altLang="ko-KR" sz="2650">
                <a:solidFill>
                  <a:srgbClr val="FFFFFF"/>
                </a:solidFill>
                <a:ea typeface="+mn-lt"/>
                <a:cs typeface="+mn-lt"/>
              </a:rPr>
              <a:t>LIME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0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2C0885-734D-2F70-66D0-3E08272D11A1}"/>
              </a:ext>
            </a:extLst>
          </p:cNvPr>
          <p:cNvSpPr/>
          <p:nvPr/>
        </p:nvSpPr>
        <p:spPr>
          <a:xfrm>
            <a:off x="527259" y="1899978"/>
            <a:ext cx="3566984" cy="1913372"/>
          </a:xfrm>
          <a:prstGeom prst="roundRect">
            <a:avLst>
              <a:gd name="adj" fmla="val 905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>
                <a:solidFill>
                  <a:schemeClr val="bg1"/>
                </a:solidFill>
              </a:rPr>
              <a:t>CHURN RATE</a:t>
            </a:r>
          </a:p>
          <a:p>
            <a:pPr algn="ctr"/>
            <a:endParaRPr lang="en-CA" sz="2000"/>
          </a:p>
          <a:p>
            <a:pPr algn="ctr"/>
            <a:r>
              <a:rPr lang="en-CA" sz="4400">
                <a:solidFill>
                  <a:schemeClr val="accent1">
                    <a:lumMod val="60000"/>
                    <a:lumOff val="40000"/>
                  </a:schemeClr>
                </a:solidFill>
              </a:rPr>
              <a:t>26.5%</a:t>
            </a:r>
            <a:endParaRPr lang="en-CA"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6DE237-A4DB-AB9F-5D48-0E18CC181EF6}"/>
              </a:ext>
            </a:extLst>
          </p:cNvPr>
          <p:cNvSpPr/>
          <p:nvPr/>
        </p:nvSpPr>
        <p:spPr>
          <a:xfrm>
            <a:off x="4328963" y="1899977"/>
            <a:ext cx="3566984" cy="1913372"/>
          </a:xfrm>
          <a:prstGeom prst="roundRect">
            <a:avLst>
              <a:gd name="adj" fmla="val 905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>
                <a:solidFill>
                  <a:schemeClr val="bg1"/>
                </a:solidFill>
              </a:rPr>
              <a:t>RECALL SCORE</a:t>
            </a:r>
          </a:p>
          <a:p>
            <a:pPr algn="ctr"/>
            <a:endParaRPr lang="en-CA" sz="2000"/>
          </a:p>
          <a:p>
            <a:pPr algn="ctr"/>
            <a:r>
              <a:rPr lang="en-CA" sz="4400">
                <a:solidFill>
                  <a:schemeClr val="accent1">
                    <a:lumMod val="60000"/>
                    <a:lumOff val="40000"/>
                  </a:schemeClr>
                </a:solidFill>
              </a:rPr>
              <a:t>0.78</a:t>
            </a:r>
            <a:endParaRPr lang="en-CA"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36FDCF-2AA7-759B-DAA7-9C38A5185DE6}"/>
              </a:ext>
            </a:extLst>
          </p:cNvPr>
          <p:cNvSpPr/>
          <p:nvPr/>
        </p:nvSpPr>
        <p:spPr>
          <a:xfrm>
            <a:off x="8130667" y="1899976"/>
            <a:ext cx="3566984" cy="1913372"/>
          </a:xfrm>
          <a:prstGeom prst="roundRect">
            <a:avLst>
              <a:gd name="adj" fmla="val 905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CA" sz="2000">
                <a:solidFill>
                  <a:schemeClr val="bg1"/>
                </a:solidFill>
              </a:rPr>
              <a:t>Target Customer​</a:t>
            </a:r>
          </a:p>
          <a:p>
            <a:pPr algn="ctr"/>
            <a:endParaRPr lang="en-CA" sz="2000"/>
          </a:p>
          <a:p>
            <a:pPr algn="ctr"/>
            <a:r>
              <a:rPr lang="en-CA" sz="4400">
                <a:solidFill>
                  <a:schemeClr val="accent1">
                    <a:lumMod val="60000"/>
                    <a:lumOff val="40000"/>
                  </a:schemeClr>
                </a:solidFill>
              </a:rPr>
              <a:t>1,869</a:t>
            </a:r>
            <a:endParaRPr lang="en-CA" sz="1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ABC3E6-7368-FEDC-317B-AB9748C6E205}"/>
              </a:ext>
            </a:extLst>
          </p:cNvPr>
          <p:cNvSpPr/>
          <p:nvPr/>
        </p:nvSpPr>
        <p:spPr>
          <a:xfrm>
            <a:off x="527259" y="4179193"/>
            <a:ext cx="11170392" cy="2082121"/>
          </a:xfrm>
          <a:prstGeom prst="roundRect">
            <a:avLst>
              <a:gd name="adj" fmla="val 905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000">
                <a:solidFill>
                  <a:schemeClr val="bg1"/>
                </a:solidFill>
              </a:rPr>
              <a:t>KEY POINT</a:t>
            </a:r>
            <a:br>
              <a:rPr lang="en-CA" sz="2000">
                <a:solidFill>
                  <a:schemeClr val="bg1"/>
                </a:solidFill>
              </a:rPr>
            </a:br>
            <a:endParaRPr lang="en-CA" sz="2000">
              <a:solidFill>
                <a:schemeClr val="bg1"/>
              </a:solidFill>
            </a:endParaRPr>
          </a:p>
          <a:p>
            <a:pPr algn="ctr"/>
            <a:r>
              <a:rPr lang="en-CA" sz="3000">
                <a:solidFill>
                  <a:schemeClr val="accent1">
                    <a:lumMod val="60000"/>
                    <a:lumOff val="40000"/>
                  </a:schemeClr>
                </a:solidFill>
              </a:rPr>
              <a:t>Recall-centric design to avoid losing potential churn customers, </a:t>
            </a:r>
          </a:p>
          <a:p>
            <a:pPr algn="ctr"/>
            <a:r>
              <a:rPr lang="en-CA" sz="3000">
                <a:solidFill>
                  <a:schemeClr val="accent1">
                    <a:lumMod val="60000"/>
                    <a:lumOff val="40000"/>
                  </a:schemeClr>
                </a:solidFill>
              </a:rPr>
              <a:t>rather than precision for cost reduction in churn prevention.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7A59A98A-F459-37B2-825B-C6DF8DEEFFB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505A5E43-AECE-325B-A6A2-9D43F4362FFC}"/>
              </a:ext>
            </a:extLst>
          </p:cNvPr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320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AA500B29-1309-5CCD-57A8-D94F5421C6E2}"/>
              </a:ext>
            </a:extLst>
          </p:cNvPr>
          <p:cNvSpPr/>
          <p:nvPr/>
        </p:nvSpPr>
        <p:spPr>
          <a:xfrm>
            <a:off x="304800" y="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650">
                <a:solidFill>
                  <a:srgbClr val="FFFFFF"/>
                </a:solidFill>
                <a:ea typeface="+mn-lt"/>
                <a:cs typeface="+mn-lt"/>
              </a:rPr>
              <a:t>DASH </a:t>
            </a:r>
            <a:r>
              <a:rPr lang="en-US" sz="2650">
                <a:solidFill>
                  <a:srgbClr val="FFFFFF"/>
                </a:solidFill>
                <a:ea typeface="+mn-lt"/>
                <a:cs typeface="+mn-lt"/>
              </a:rPr>
              <a:t>ANALYTICS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ED5D5EACBD74D84B1BF5B4A8084F5" ma:contentTypeVersion="5" ma:contentTypeDescription="Create a new document." ma:contentTypeScope="" ma:versionID="d89d40ba71339f9646bedc7f3aa3f7db">
  <xsd:schema xmlns:xsd="http://www.w3.org/2001/XMLSchema" xmlns:xs="http://www.w3.org/2001/XMLSchema" xmlns:p="http://schemas.microsoft.com/office/2006/metadata/properties" xmlns:ns3="fe8e2d30-2088-4d97-aa7e-f53a4c1394b4" targetNamespace="http://schemas.microsoft.com/office/2006/metadata/properties" ma:root="true" ma:fieldsID="227b794506d0985b41e8e7115f607b5d" ns3:_="">
    <xsd:import namespace="fe8e2d30-2088-4d97-aa7e-f53a4c1394b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8e2d30-2088-4d97-aa7e-f53a4c1394b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8e2d30-2088-4d97-aa7e-f53a4c1394b4" xsi:nil="true"/>
  </documentManagement>
</p:properties>
</file>

<file path=customXml/itemProps1.xml><?xml version="1.0" encoding="utf-8"?>
<ds:datastoreItem xmlns:ds="http://schemas.openxmlformats.org/officeDocument/2006/customXml" ds:itemID="{155B37AA-B63B-4B03-B9CE-39387575488A}">
  <ds:schemaRefs>
    <ds:schemaRef ds:uri="fe8e2d30-2088-4d97-aa7e-f53a4c1394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57AAC0D-719D-4CDD-AA7C-1A388FEAD0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C4EBE8-82A4-46B6-8584-753405986C67}">
  <ds:schemaRefs>
    <ds:schemaRef ds:uri="fe8e2d30-2088-4d97-aa7e-f53a4c1394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1680</Words>
  <Application>Microsoft Office PowerPoint</Application>
  <PresentationFormat>Widescreen</PresentationFormat>
  <Paragraphs>299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r_alagappanmanimaran@fanshaweonline.ca</dc:creator>
  <cp:lastModifiedBy>Choi, Seongmin</cp:lastModifiedBy>
  <cp:revision>63</cp:revision>
  <dcterms:modified xsi:type="dcterms:W3CDTF">2026-04-01T21:29:19Z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0x01010004FED5D5EACBD74D84B1BF5B4A8084F5</vt:lpwstr>
  </property>
</Properties>
</file>