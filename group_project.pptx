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0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roup Project Sample Presentation" id="{9A9B47E9-0AAC-4528-8BD7-07E5A07AEAB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80"/>
            <p14:sldId id="273"/>
            <p14:sldId id="274"/>
            <p14:sldId id="275"/>
            <p14:sldId id="276"/>
            <p14:sldId id="277"/>
            <p14:sldId id="278"/>
            <p14:sldId id="279"/>
            <p14:sldId id="26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376F8-A5E1-3CD5-8ABC-1DF17ADFD08A}" v="374" dt="2026-03-29T07:01:29.909"/>
    <p1510:client id="{270991F4-11F1-FD2E-B809-112B0AA71EBE}" v="103" dt="2026-03-27T22:54:09.444"/>
    <p1510:client id="{41928F79-01C7-A803-90B1-28CA6390D75A}" v="187" dt="2026-03-29T01:04:51.354"/>
    <p1510:client id="{9A030342-DCAE-A767-E04B-9804C8742E2D}" v="21" dt="2026-03-29T01:05:26.009"/>
    <p1510:client id="{C74C9353-14BF-90F7-9D52-3B8CA356D46A}" v="10" dt="2026-03-27T22:48:26.149"/>
    <p1510:client id="{CDB954F1-B7D5-A976-1D01-067A2EC9FCDB}" v="56" dt="2026-03-29T01:00:22.111"/>
    <p1510:client id="{DE5789F5-2019-AB8F-E38E-CAF0ECB2B09B}" v="83" dt="2026-03-29T00:59:42.0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3_0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4_0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5_0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5_01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6_0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6_02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_112_6C04F7AF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A43-49F9-A135-752A15933ADE}"/>
              </c:ext>
            </c:extLst>
          </c:dPt>
          <c:dPt>
            <c:idx val="1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A43-49F9-A135-752A15933AD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Retained</c:v>
                </c:pt>
                <c:pt idx="1">
                  <c:v>Churned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5163</c:v>
                </c:pt>
                <c:pt idx="1">
                  <c:v>1869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A43-49F9-A135-752A15933AD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D1E-41FC-B07A-E83D9C901C8A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1E-41FC-B07A-E83D9C901C8A}"/>
              </c:ext>
            </c:extLst>
          </c:dPt>
          <c:dPt>
            <c:idx val="2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1E-41FC-B07A-E83D9C901C8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Month-to-Month</c:v>
                </c:pt>
                <c:pt idx="1">
                  <c:v>One Year</c:v>
                </c:pt>
                <c:pt idx="2">
                  <c:v>Two Year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42.7</c:v>
                </c:pt>
                <c:pt idx="1">
                  <c:v>11.3</c:v>
                </c:pt>
                <c:pt idx="2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1E-41FC-B07A-E83D9C901C8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Drops as Tenure Increases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ln w="38100" cap="flat">
              <a:solidFill>
                <a:srgbClr val="EF444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0-12 months</c:v>
                </c:pt>
                <c:pt idx="1">
                  <c:v>13-24 months</c:v>
                </c:pt>
                <c:pt idx="2">
                  <c:v>25-48 months</c:v>
                </c:pt>
                <c:pt idx="3">
                  <c:v>49-72 months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47.7</c:v>
                </c:pt>
                <c:pt idx="1">
                  <c:v>27.8</c:v>
                </c:pt>
                <c:pt idx="2">
                  <c:v>19.600000000000001</c:v>
                </c:pt>
                <c:pt idx="3">
                  <c:v>9.1999999999999993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6B2-46EE-8705-2800E54B32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%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565-42A0-8087-027300BB84FF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565-42A0-8087-027300BB84FF}"/>
              </c:ext>
            </c:extLst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565-42A0-8087-027300BB84FF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565-42A0-8087-027300BB84F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0-12 mo</c:v>
                </c:pt>
                <c:pt idx="1">
                  <c:v>13-24 mo</c:v>
                </c:pt>
                <c:pt idx="2">
                  <c:v>25-48 mo</c:v>
                </c:pt>
                <c:pt idx="3">
                  <c:v>49-72 mo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47.7</c:v>
                </c:pt>
                <c:pt idx="1">
                  <c:v>27.8</c:v>
                </c:pt>
                <c:pt idx="2">
                  <c:v>19.600000000000001</c:v>
                </c:pt>
                <c:pt idx="3">
                  <c:v>9.1999999999999993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565-42A0-8087-027300BB84F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by Internet Service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726-4024-854D-080CE84B6926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26-4024-854D-080CE84B6926}"/>
              </c:ext>
            </c:extLst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726-4024-854D-080CE84B692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No Internet</c:v>
                </c:pt>
                <c:pt idx="1">
                  <c:v>DSL</c:v>
                </c:pt>
                <c:pt idx="2">
                  <c:v>Fiber Optic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7.4</c:v>
                </c:pt>
                <c:pt idx="1">
                  <c:v>19</c:v>
                </c:pt>
                <c:pt idx="2">
                  <c:v>41.9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26-4024-854D-080CE84B692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by Payment Method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803-4AE8-8604-2C9F852EEBBE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803-4AE8-8604-2C9F852EEBBE}"/>
              </c:ext>
            </c:extLst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803-4AE8-8604-2C9F852EEBBE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803-4AE8-8604-2C9F852EEBB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Electronic
Check</c:v>
                </c:pt>
                <c:pt idx="1">
                  <c:v>Mailed
Check</c:v>
                </c:pt>
                <c:pt idx="2">
                  <c:v>Bank
Transfer</c:v>
                </c:pt>
                <c:pt idx="3">
                  <c:v>Credit
Card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</c:v>
                </c:pt>
                <c:pt idx="1">
                  <c:v>19.100000000000001</c:v>
                </c:pt>
                <c:pt idx="2">
                  <c:v>16.7</c:v>
                </c:pt>
                <c:pt idx="3">
                  <c:v>15.2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803-4AE8-8604-2C9F852EEBB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Value</c:v>
                </c:pt>
              </c:strCache>
            </c:strRef>
          </c:tx>
          <c:spPr>
            <a:solidFill>
              <a:schemeClr val="dk1">
                <a:tint val="88500"/>
              </a:schemeClr>
            </a:solidFill>
            <a:ln>
              <a:noFill/>
            </a:ln>
            <a:effectLst/>
            <a:sp3d/>
          </c:spPr>
          <c:invertIfNegative val="0"/>
          <c:cat>
            <c:strRef>
              <c:f>Sheet1!$A$2:$A$9</c:f>
              <c:strCache>
                <c:ptCount val="8"/>
                <c:pt idx="0">
                  <c:v>GBM</c:v>
                </c:pt>
                <c:pt idx="1">
                  <c:v>LogisticRegression</c:v>
                </c:pt>
                <c:pt idx="2">
                  <c:v>XGBoost</c:v>
                </c:pt>
                <c:pt idx="3">
                  <c:v>RandomForest</c:v>
                </c:pt>
                <c:pt idx="4">
                  <c:v>SVM</c:v>
                </c:pt>
                <c:pt idx="5">
                  <c:v>KNN</c:v>
                </c:pt>
                <c:pt idx="6">
                  <c:v>DecisionTree</c:v>
                </c:pt>
                <c:pt idx="7">
                  <c:v>Naïve Bayes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0.84</c:v>
                </c:pt>
                <c:pt idx="1">
                  <c:v>0.83</c:v>
                </c:pt>
                <c:pt idx="2">
                  <c:v>0.81</c:v>
                </c:pt>
                <c:pt idx="3">
                  <c:v>0.79</c:v>
                </c:pt>
                <c:pt idx="4">
                  <c:v>0.76</c:v>
                </c:pt>
                <c:pt idx="5">
                  <c:v>0.72</c:v>
                </c:pt>
                <c:pt idx="6">
                  <c:v>0.68</c:v>
                </c:pt>
                <c:pt idx="7">
                  <c:v>0.63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5F-40AC-9A50-94457B2EA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247945679"/>
        <c:axId val="1247929359"/>
        <c:axId val="0"/>
      </c:bar3DChart>
      <c:catAx>
        <c:axId val="124794567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7929359"/>
        <c:crosses val="autoZero"/>
        <c:auto val="1"/>
        <c:lblAlgn val="ctr"/>
        <c:lblOffset val="100"/>
        <c:noMultiLvlLbl val="0"/>
      </c:catAx>
      <c:valAx>
        <c:axId val="1247929359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794567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B8080D-2B2C-4C48-AB13-97E85EBAF0A4}" type="datetimeFigureOut"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65086F-7D11-4E40-B1A1-5CC8519E630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5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152C-2907-4A0A-A0B6-89680A694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B5711-0B8C-5F28-024B-08AB884D2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67CC1-1C2B-B8ED-79CD-1A38936B2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Hello, I am Edward, in charge of the Data Preprocessing and Modeling part.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First, we will cover the 'Data Preprocessing and Feature Engineering' process.</a:t>
            </a:r>
            <a:endParaRPr lang="en-US"/>
          </a:p>
          <a:p>
            <a:br>
              <a:rPr lang="en-US" dirty="0"/>
            </a:b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First, to enable algorithms to perform calculations, </a:t>
            </a:r>
            <a:endParaRPr lang="en-US"/>
          </a:p>
          <a:p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We converted binary fields such as gender, partner or churn status into 0s and 1s using label encoding. </a:t>
            </a:r>
            <a:endParaRPr lang="en-US" dirty="0"/>
          </a:p>
          <a:p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For data with three or more categories, such as multiple lines, internet services or contract, </a:t>
            </a: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dummy-coded them using one-hot encoding to ensure the independence of each item.</a:t>
            </a:r>
            <a:endParaRPr lang="en-US"/>
          </a:p>
          <a:p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Finally, for numerical data like Tenure, </a:t>
            </a:r>
            <a:r>
              <a:rPr lang="en-US" dirty="0" err="1">
                <a:solidFill>
                  <a:srgbClr val="475569"/>
                </a:solidFill>
                <a:highlight>
                  <a:srgbClr val="F8FAFC"/>
                </a:highlight>
              </a:rPr>
              <a:t>MonthlyChargs</a:t>
            </a:r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 and </a:t>
            </a:r>
            <a:r>
              <a:rPr lang="en-US" dirty="0" err="1">
                <a:solidFill>
                  <a:srgbClr val="475569"/>
                </a:solidFill>
                <a:highlight>
                  <a:srgbClr val="F8FAFC"/>
                </a:highlight>
              </a:rPr>
              <a:t>TotalCharges</a:t>
            </a:r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, which exhibit significant variance,</a:t>
            </a: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applied a Standard Scaler to scale them into a standard normal distribution to prevent the model from becoming overly biased toward specific variables.</a:t>
            </a:r>
            <a:endParaRPr lang="en-US"/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8E213C-56BD-E0B9-3315-8831BE1FB7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8395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This is Dataset Splitting and Model Training Strategy.</a:t>
            </a:r>
            <a:endParaRPr lang="en-US"/>
          </a:p>
          <a:p>
            <a:br>
              <a:rPr lang="en-US" dirty="0"/>
            </a:b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verified the model's generalization performance by splitting the dataset into 80% training data and 20% test data.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 particular, to avoid bias in specific algorithms,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conducted comparative experiments using a total of eight classification models, ranging from logistic regression to the latest technique, XGBoost(Extreme Gradient Boosting)</a:t>
            </a:r>
            <a:endParaRPr lang="en-US"/>
          </a:p>
          <a:p>
            <a:br>
              <a:rPr lang="en-US" dirty="0"/>
            </a:b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Here, we used AUC as the metric for model performance. </a:t>
            </a:r>
            <a:b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determined that AUC is the most suitable metric for evaluating the ability to classify churners,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which is the core of our project, because it best represents a model's discriminative power regardless of the classification threshold.</a:t>
            </a:r>
            <a:endParaRPr lang="en-US"/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705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 will now present the experimental results.</a:t>
            </a:r>
            <a:endParaRPr lang="en-US"/>
          </a:p>
          <a:p>
            <a:br>
              <a:rPr lang="en-US" dirty="0">
                <a:cs typeface="+mn-lt"/>
              </a:rPr>
            </a:br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Among the eight models, the Gradient Boosting model, demonstrated the highest performance with an AUC of 0.84,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followed by Logistic Regression at 0.83.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did not view these results merely as numerical values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but examined them in detail using the Confusion Matrix and ROC curve.</a:t>
            </a:r>
            <a:endParaRPr lang="en-US"/>
          </a:p>
          <a:p>
            <a:br>
              <a:rPr lang="en-US" dirty="0">
                <a:cs typeface="+mn-lt"/>
              </a:rPr>
            </a:br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In particular, to achieve the business goal of preventing customer churn, </a:t>
            </a:r>
            <a:endParaRPr lang="en-US" dirty="0">
              <a:solidFill>
                <a:srgbClr val="000000"/>
              </a:solidFill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tuned the final model by focusing on improving Recall to minimize errors where actual churners are misidentified as regular customers.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61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Deep learning or complex ensemble models have the disadvantage of being "black boxes,"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where it is difficult to understand the basis for their internal decisions.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To overcome this, we introduced explainable AI techniques: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SHAP for global interpretation and LIME for individual case interpretation.</a:t>
            </a:r>
            <a:endParaRPr lang="en-US"/>
          </a:p>
          <a:p>
            <a:endParaRPr lang="en-US" dirty="0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Looking at the SHAP summary chart, </a:t>
            </a:r>
            <a:endParaRPr lang="en-US"/>
          </a:p>
          <a:p>
            <a:endParaRPr lang="en-US" dirty="0">
              <a:cs typeface="+mn-lt"/>
            </a:endParaRPr>
          </a:p>
          <a:p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For example, You can see that 'Month-to-month' is the most critical variable determining churn.</a:t>
            </a: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people who sign monthly contracts have a higher probability of cancellation, </a:t>
            </a:r>
          </a:p>
          <a:p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whereas those who do not have a lower probability.</a:t>
            </a:r>
            <a:endParaRPr lang="en-US" dirty="0"/>
          </a:p>
          <a:p>
            <a:br>
              <a:rPr lang="en-US" dirty="0">
                <a:cs typeface="+mn-lt"/>
              </a:rPr>
            </a:br>
            <a:r>
              <a:rPr lang="en-US"/>
              <a:t>Based on this chart, The top 2 to 3 features had a significant impact.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 dirty="0"/>
              <a:t>Let's take a closer look at the values?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296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The red color indicates a positive SHAP value, </a:t>
            </a: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meaning a Month-to-month contract significantly increases the probability of churn. </a:t>
            </a:r>
            <a:endParaRPr lang="en-US"/>
          </a:p>
          <a:p>
            <a:r>
              <a:rPr lang="en-US" dirty="0">
                <a:solidFill>
                  <a:srgbClr val="475569"/>
                </a:solidFill>
                <a:highlight>
                  <a:srgbClr val="F8FAFC"/>
                </a:highlight>
              </a:rPr>
              <a:t>Conversely, blue indicates a negative SHAP value, </a:t>
            </a:r>
            <a:endParaRPr lang="en-US" dirty="0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showing that other contract types correlate with a lower churn risk.</a:t>
            </a:r>
            <a:endParaRPr lang="en-US"/>
          </a:p>
          <a:p>
            <a:br>
              <a:rPr lang="en-US" dirty="0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For shorter tenure (left side of the x-axis), 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SHAP values are mostly positive (red), contributing to a higher churn probability.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As tenure increases (moving right), the values turn negative (blue),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indicating that longer-term customers are less likely to churn</a:t>
            </a:r>
            <a:endParaRPr lang="en-US"/>
          </a:p>
          <a:p>
            <a:br>
              <a:rPr lang="en-US" dirty="0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same principle applies to not having a security subscription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497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understand the model's specific logic, </a:t>
            </a:r>
          </a:p>
          <a:p>
            <a:r>
              <a:rPr lang="en-US"/>
              <a:t>we analyzed an individual case (Customer 0) using SHAP values.</a:t>
            </a:r>
          </a:p>
          <a:p>
            <a:r>
              <a:rPr lang="en-US" dirty="0"/>
              <a:t> </a:t>
            </a:r>
            <a:endParaRPr lang="en-US" dirty="0">
              <a:ea typeface="Calibri"/>
              <a:cs typeface="Calibri"/>
            </a:endParaRPr>
          </a:p>
          <a:p>
            <a:r>
              <a:rPr lang="en-US"/>
              <a:t>Key Retention Drivers are represented by the blue bars.</a:t>
            </a:r>
          </a:p>
          <a:p>
            <a:r>
              <a:rPr lang="en-US"/>
              <a:t>The primary reasons for the low churn prediction are not being on a Month-to-month contract and having a Two-year contract significantly reduce the churn risk. </a:t>
            </a:r>
          </a:p>
          <a:p>
            <a:r>
              <a:rPr lang="en-US"/>
              <a:t>Their high tenure further reinforces this stability.</a:t>
            </a:r>
          </a:p>
          <a:p>
            <a:r>
              <a:rPr lang="en-US" dirty="0"/>
              <a:t> </a:t>
            </a:r>
            <a:endParaRPr lang="en-US" dirty="0">
              <a:ea typeface="Calibri"/>
              <a:cs typeface="Calibri"/>
            </a:endParaRPr>
          </a:p>
          <a:p>
            <a:r>
              <a:rPr lang="en-US"/>
              <a:t>On the other hand, the lack of an Online Security subscription acts as a push factor, slightly increasing the probability of churn.</a:t>
            </a:r>
          </a:p>
          <a:p>
            <a:r>
              <a:rPr lang="en-US" dirty="0"/>
              <a:t> </a:t>
            </a:r>
            <a:endParaRPr lang="en-US" dirty="0">
              <a:ea typeface="Calibri"/>
              <a:cs typeface="Calibri"/>
            </a:endParaRPr>
          </a:p>
          <a:p>
            <a:r>
              <a:rPr lang="en-US"/>
              <a:t>Consequently, the model predicts a very high probability of this customer staying with the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316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Furthermore, through LIME analysis,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can now provide specific reasons why individual customers are flagged as high-risk.</a:t>
            </a:r>
            <a:endParaRPr lang="en-US"/>
          </a:p>
          <a:p>
            <a:endParaRPr lang="en-US" dirty="0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This interpretability provides marketing managers with evidence-based insights,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allowing them to make more effective and personalized churn prevention strategies.</a:t>
            </a:r>
            <a:endParaRPr lang="en-US"/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92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From a business perspective, missing a potential churner is a much costlier mistake than misidentifying a loyal one. </a:t>
            </a:r>
          </a:p>
          <a:p>
            <a:r>
              <a:rPr lang="en-US"/>
              <a:t>That is why our model prioritizes Recall over Precision.</a:t>
            </a:r>
          </a:p>
          <a:p>
            <a:r>
              <a:rPr lang="en-US"/>
              <a:t> </a:t>
            </a:r>
          </a:p>
          <a:p>
            <a:r>
              <a:rPr lang="en-US" dirty="0"/>
              <a:t>With this dashboard, companies can pinpoint 1,869 high-risk customers and </a:t>
            </a:r>
          </a:p>
          <a:p>
            <a:r>
              <a:rPr lang="en-US"/>
              <a:t>immediately</a:t>
            </a:r>
            <a:r>
              <a:rPr lang="en-US" dirty="0"/>
              <a:t> launch personalized promotions tailored to each individual's specific reason for churn.</a:t>
            </a:r>
          </a:p>
          <a:p>
            <a:r>
              <a:rPr lang="en-US"/>
              <a:t>MawuKo, could you please explain the dashboard?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210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7232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9509760" y="-1463040"/>
            <a:ext cx="4267200" cy="4267200"/>
          </a:xfrm>
          <a:prstGeom prst="ellipse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6B6D4">
                <a:alpha val="40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Shape 2"/>
          <p:cNvSpPr/>
          <p:nvPr/>
        </p:nvSpPr>
        <p:spPr>
          <a:xfrm>
            <a:off x="10119360" y="-853440"/>
            <a:ext cx="3048000" cy="304800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5" name="Shape 3"/>
          <p:cNvSpPr/>
          <p:nvPr/>
        </p:nvSpPr>
        <p:spPr>
          <a:xfrm>
            <a:off x="487680" y="426720"/>
            <a:ext cx="3413760" cy="463296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487680" y="426720"/>
            <a:ext cx="3413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rgbClr val="FFFFFF"/>
                </a:solidFill>
              </a:rPr>
              <a:t>DATA ANALYTICS PROJECT</a:t>
            </a:r>
            <a:endParaRPr lang="en-US" sz="12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6720" y="1158240"/>
            <a:ext cx="1036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5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Customer Churn</a:t>
            </a:r>
            <a:endParaRPr lang="en-US" sz="5867"/>
          </a:p>
        </p:txBody>
      </p:sp>
      <p:sp>
        <p:nvSpPr>
          <p:cNvPr id="8" name="Text 6"/>
          <p:cNvSpPr/>
          <p:nvPr/>
        </p:nvSpPr>
        <p:spPr>
          <a:xfrm>
            <a:off x="426720" y="237744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5067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&amp; Analysis</a:t>
            </a:r>
            <a:endParaRPr lang="en-US" sz="5067"/>
          </a:p>
        </p:txBody>
      </p:sp>
      <p:sp>
        <p:nvSpPr>
          <p:cNvPr id="9" name="Shape 7"/>
          <p:cNvSpPr/>
          <p:nvPr/>
        </p:nvSpPr>
        <p:spPr>
          <a:xfrm>
            <a:off x="426720" y="3596640"/>
            <a:ext cx="792480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Text 8"/>
          <p:cNvSpPr/>
          <p:nvPr/>
        </p:nvSpPr>
        <p:spPr>
          <a:xfrm>
            <a:off x="426720" y="3779520"/>
            <a:ext cx="109728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IBM Telco Dataset  •  Machine Learning Pipeline  •  SHAP Explainability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>
          <a:xfrm>
            <a:off x="426720" y="4572000"/>
            <a:ext cx="3657600" cy="1584960"/>
          </a:xfrm>
          <a:prstGeom prst="rect">
            <a:avLst/>
          </a:prstGeom>
          <a:solidFill>
            <a:srgbClr val="0891B2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10"/>
          <p:cNvSpPr/>
          <p:nvPr/>
        </p:nvSpPr>
        <p:spPr>
          <a:xfrm>
            <a:off x="42672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Rakesh</a:t>
            </a:r>
          </a:p>
        </p:txBody>
      </p:sp>
      <p:sp>
        <p:nvSpPr>
          <p:cNvPr id="13" name="Text 11"/>
          <p:cNvSpPr/>
          <p:nvPr/>
        </p:nvSpPr>
        <p:spPr>
          <a:xfrm>
            <a:off x="426720" y="51450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FFAFE"/>
                </a:solidFill>
              </a:rPr>
              <a:t>EDA &amp; Data Cleaning</a:t>
            </a:r>
            <a:endParaRPr lang="en-US" sz="1333"/>
          </a:p>
        </p:txBody>
      </p:sp>
      <p:sp>
        <p:nvSpPr>
          <p:cNvPr id="14" name="Shape 12"/>
          <p:cNvSpPr/>
          <p:nvPr/>
        </p:nvSpPr>
        <p:spPr>
          <a:xfrm>
            <a:off x="4328160" y="4572000"/>
            <a:ext cx="3657600" cy="1584960"/>
          </a:xfrm>
          <a:prstGeom prst="rect">
            <a:avLst/>
          </a:prstGeom>
          <a:solidFill>
            <a:srgbClr val="1E344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432816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Edward</a:t>
            </a:r>
          </a:p>
        </p:txBody>
      </p:sp>
      <p:sp>
        <p:nvSpPr>
          <p:cNvPr id="16" name="Text 14"/>
          <p:cNvSpPr/>
          <p:nvPr/>
        </p:nvSpPr>
        <p:spPr>
          <a:xfrm>
            <a:off x="4328160" y="51450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Preprocessing &amp; Modeling</a:t>
            </a:r>
            <a:endParaRPr lang="en-US" sz="1333"/>
          </a:p>
        </p:txBody>
      </p:sp>
      <p:sp>
        <p:nvSpPr>
          <p:cNvPr id="17" name="Shape 15"/>
          <p:cNvSpPr/>
          <p:nvPr/>
        </p:nvSpPr>
        <p:spPr>
          <a:xfrm>
            <a:off x="8229600" y="4572000"/>
            <a:ext cx="3657600" cy="1584960"/>
          </a:xfrm>
          <a:prstGeom prst="rect">
            <a:avLst/>
          </a:prstGeom>
          <a:solidFill>
            <a:srgbClr val="1E344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Text 16"/>
          <p:cNvSpPr/>
          <p:nvPr/>
        </p:nvSpPr>
        <p:spPr>
          <a:xfrm>
            <a:off x="822960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Mawuko</a:t>
            </a:r>
          </a:p>
        </p:txBody>
      </p:sp>
      <p:sp>
        <p:nvSpPr>
          <p:cNvPr id="19" name="Text 17"/>
          <p:cNvSpPr/>
          <p:nvPr/>
        </p:nvSpPr>
        <p:spPr>
          <a:xfrm>
            <a:off x="8229600" y="51450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SHAP &amp; Dashboard</a:t>
            </a:r>
            <a:endParaRPr lang="en-US" sz="1333"/>
          </a:p>
        </p:txBody>
      </p:sp>
      <p:sp>
        <p:nvSpPr>
          <p:cNvPr id="20" name="Shape 18"/>
          <p:cNvSpPr/>
          <p:nvPr/>
        </p:nvSpPr>
        <p:spPr>
          <a:xfrm>
            <a:off x="426720" y="4328160"/>
            <a:ext cx="1706880" cy="2682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426720" y="4328160"/>
            <a:ext cx="17068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900" b="1">
              <a:solidFill>
                <a:srgbClr val="0D1B2A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What Are We Solving?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365760" y="1158240"/>
            <a:ext cx="5364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Shape 4"/>
          <p:cNvSpPr/>
          <p:nvPr/>
        </p:nvSpPr>
        <p:spPr>
          <a:xfrm>
            <a:off x="365760" y="1158240"/>
            <a:ext cx="97536" cy="2560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5"/>
          <p:cNvSpPr/>
          <p:nvPr/>
        </p:nvSpPr>
        <p:spPr>
          <a:xfrm>
            <a:off x="609600" y="1219200"/>
            <a:ext cx="48768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0D1B2A"/>
                </a:solidFill>
              </a:rPr>
              <a:t>The Problem</a:t>
            </a:r>
            <a:endParaRPr lang="en-US" sz="1867"/>
          </a:p>
        </p:txBody>
      </p:sp>
      <p:sp>
        <p:nvSpPr>
          <p:cNvPr id="8" name="Text 6"/>
          <p:cNvSpPr/>
          <p:nvPr/>
        </p:nvSpPr>
        <p:spPr>
          <a:xfrm>
            <a:off x="609600" y="1767840"/>
            <a:ext cx="4876800" cy="1767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</a:t>
            </a: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when a customer stops using a service.</a:t>
            </a:r>
            <a:endParaRPr lang="en-US" sz="1467"/>
          </a:p>
          <a:p>
            <a:pPr marL="0" indent="0">
              <a:buNone/>
            </a:pP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telecom companies, losing customers is expensive — it costs </a:t>
            </a:r>
            <a:endParaRPr lang="en-US" sz="1467"/>
          </a:p>
          <a:p>
            <a:pPr marL="0" indent="0">
              <a:buNone/>
            </a:pPr>
            <a:r>
              <a:rPr lang="en-US" sz="1467" b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5–10x more</a:t>
            </a: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acquire a new customer than to retain an existing one.</a:t>
            </a:r>
            <a:endParaRPr lang="en-US" sz="1467"/>
          </a:p>
        </p:txBody>
      </p:sp>
      <p:sp>
        <p:nvSpPr>
          <p:cNvPr id="9" name="Shape 7"/>
          <p:cNvSpPr/>
          <p:nvPr/>
        </p:nvSpPr>
        <p:spPr>
          <a:xfrm>
            <a:off x="6096000" y="1158240"/>
            <a:ext cx="56083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8"/>
          <p:cNvSpPr/>
          <p:nvPr/>
        </p:nvSpPr>
        <p:spPr>
          <a:xfrm>
            <a:off x="6096000" y="1158240"/>
            <a:ext cx="97536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9"/>
          <p:cNvSpPr/>
          <p:nvPr/>
        </p:nvSpPr>
        <p:spPr>
          <a:xfrm>
            <a:off x="6339840" y="1219200"/>
            <a:ext cx="51206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0D1B2A"/>
                </a:solidFill>
              </a:rPr>
              <a:t>Our Dataset</a:t>
            </a:r>
            <a:endParaRPr lang="en-US" sz="1867"/>
          </a:p>
        </p:txBody>
      </p:sp>
      <p:sp>
        <p:nvSpPr>
          <p:cNvPr id="12" name="Text 10"/>
          <p:cNvSpPr/>
          <p:nvPr/>
        </p:nvSpPr>
        <p:spPr>
          <a:xfrm>
            <a:off x="6339840" y="1767840"/>
            <a:ext cx="5120640" cy="1767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Telco Customer Churn Dataset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7,043 customers    • 21 features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Demographics, services &amp; billing info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Target: Churn (Yes / No)</a:t>
            </a:r>
            <a:endParaRPr lang="en-US" sz="1467"/>
          </a:p>
        </p:txBody>
      </p:sp>
      <p:sp>
        <p:nvSpPr>
          <p:cNvPr id="13" name="Text 11"/>
          <p:cNvSpPr/>
          <p:nvPr/>
        </p:nvSpPr>
        <p:spPr>
          <a:xfrm>
            <a:off x="365760" y="3962400"/>
            <a:ext cx="1146048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b="1" kern="0" spc="267">
                <a:solidFill>
                  <a:srgbClr val="64748B"/>
                </a:solidFill>
              </a:rPr>
              <a:t>OUR WORKFLOW PIPELINE</a:t>
            </a:r>
            <a:endParaRPr lang="en-US" sz="1333"/>
          </a:p>
        </p:txBody>
      </p:sp>
      <p:sp>
        <p:nvSpPr>
          <p:cNvPr id="14" name="Shape 12"/>
          <p:cNvSpPr/>
          <p:nvPr/>
        </p:nvSpPr>
        <p:spPr>
          <a:xfrm>
            <a:off x="365760" y="4486656"/>
            <a:ext cx="2560320" cy="1645920"/>
          </a:xfrm>
          <a:prstGeom prst="rect">
            <a:avLst/>
          </a:prstGeom>
          <a:solidFill>
            <a:srgbClr val="0891B2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36576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FFFFFF"/>
                </a:solidFill>
              </a:rPr>
              <a:t>EDA</a:t>
            </a:r>
            <a:endParaRPr lang="en-US" sz="1467"/>
          </a:p>
          <a:p>
            <a:pPr algn="ctr"/>
            <a:endParaRPr lang="en-US" sz="145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92608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7" name="Text 15"/>
          <p:cNvSpPr/>
          <p:nvPr/>
        </p:nvSpPr>
        <p:spPr>
          <a:xfrm>
            <a:off x="292608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18" name="Shape 16"/>
          <p:cNvSpPr/>
          <p:nvPr/>
        </p:nvSpPr>
        <p:spPr>
          <a:xfrm>
            <a:off x="329184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7"/>
          <p:cNvSpPr/>
          <p:nvPr/>
        </p:nvSpPr>
        <p:spPr>
          <a:xfrm>
            <a:off x="329184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Preprocessing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&amp; Modeling</a:t>
            </a:r>
            <a:endParaRPr lang="en-US" sz="1467"/>
          </a:p>
        </p:txBody>
      </p:sp>
      <p:sp>
        <p:nvSpPr>
          <p:cNvPr id="20" name="Shape 18"/>
          <p:cNvSpPr/>
          <p:nvPr/>
        </p:nvSpPr>
        <p:spPr>
          <a:xfrm>
            <a:off x="585216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585216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22" name="Shape 20"/>
          <p:cNvSpPr/>
          <p:nvPr/>
        </p:nvSpPr>
        <p:spPr>
          <a:xfrm>
            <a:off x="621792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621792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SHAP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Explainability</a:t>
            </a:r>
            <a:endParaRPr lang="en-US" sz="1467"/>
          </a:p>
        </p:txBody>
      </p:sp>
      <p:sp>
        <p:nvSpPr>
          <p:cNvPr id="24" name="Shape 22"/>
          <p:cNvSpPr/>
          <p:nvPr/>
        </p:nvSpPr>
        <p:spPr>
          <a:xfrm>
            <a:off x="877824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5" name="Text 23"/>
          <p:cNvSpPr/>
          <p:nvPr/>
        </p:nvSpPr>
        <p:spPr>
          <a:xfrm>
            <a:off x="877824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26" name="Shape 24"/>
          <p:cNvSpPr/>
          <p:nvPr/>
        </p:nvSpPr>
        <p:spPr>
          <a:xfrm>
            <a:off x="914400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7" name="Text 25"/>
          <p:cNvSpPr/>
          <p:nvPr/>
        </p:nvSpPr>
        <p:spPr>
          <a:xfrm>
            <a:off x="914400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Streamlit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Dashboard</a:t>
            </a:r>
            <a:endParaRPr lang="en-US" sz="1467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Step 1: Understanding the Raw Data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24384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Shape 4"/>
          <p:cNvSpPr/>
          <p:nvPr/>
        </p:nvSpPr>
        <p:spPr>
          <a:xfrm>
            <a:off x="243840" y="1097280"/>
            <a:ext cx="2682240" cy="121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5"/>
          <p:cNvSpPr/>
          <p:nvPr/>
        </p:nvSpPr>
        <p:spPr>
          <a:xfrm>
            <a:off x="24384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0891B2"/>
                </a:solidFill>
              </a:rPr>
              <a:t>7,043</a:t>
            </a:r>
            <a:endParaRPr lang="en-US" sz="4267"/>
          </a:p>
        </p:txBody>
      </p:sp>
      <p:sp>
        <p:nvSpPr>
          <p:cNvPr id="8" name="Text 6"/>
          <p:cNvSpPr/>
          <p:nvPr/>
        </p:nvSpPr>
        <p:spPr>
          <a:xfrm>
            <a:off x="24384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Total Customers</a:t>
            </a:r>
            <a:endParaRPr lang="en-US" sz="1333"/>
          </a:p>
        </p:txBody>
      </p:sp>
      <p:sp>
        <p:nvSpPr>
          <p:cNvPr id="9" name="Shape 7"/>
          <p:cNvSpPr/>
          <p:nvPr/>
        </p:nvSpPr>
        <p:spPr>
          <a:xfrm>
            <a:off x="323088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8"/>
          <p:cNvSpPr/>
          <p:nvPr/>
        </p:nvSpPr>
        <p:spPr>
          <a:xfrm>
            <a:off x="3230880" y="1097280"/>
            <a:ext cx="2682240" cy="121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9"/>
          <p:cNvSpPr/>
          <p:nvPr/>
        </p:nvSpPr>
        <p:spPr>
          <a:xfrm>
            <a:off x="323088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F59E0B"/>
                </a:solidFill>
              </a:rPr>
              <a:t>21</a:t>
            </a:r>
            <a:endParaRPr lang="en-US" sz="4267"/>
          </a:p>
        </p:txBody>
      </p:sp>
      <p:sp>
        <p:nvSpPr>
          <p:cNvPr id="12" name="Text 10"/>
          <p:cNvSpPr/>
          <p:nvPr/>
        </p:nvSpPr>
        <p:spPr>
          <a:xfrm>
            <a:off x="323088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Features / Columns</a:t>
            </a:r>
            <a:endParaRPr lang="en-US" sz="1333"/>
          </a:p>
        </p:txBody>
      </p:sp>
      <p:sp>
        <p:nvSpPr>
          <p:cNvPr id="13" name="Shape 11"/>
          <p:cNvSpPr/>
          <p:nvPr/>
        </p:nvSpPr>
        <p:spPr>
          <a:xfrm>
            <a:off x="621792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682240" cy="121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621792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EF4444"/>
                </a:solidFill>
              </a:rPr>
              <a:t>11</a:t>
            </a:r>
            <a:endParaRPr lang="en-US" sz="4267"/>
          </a:p>
        </p:txBody>
      </p:sp>
      <p:sp>
        <p:nvSpPr>
          <p:cNvPr id="16" name="Text 14"/>
          <p:cNvSpPr/>
          <p:nvPr/>
        </p:nvSpPr>
        <p:spPr>
          <a:xfrm>
            <a:off x="621792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Rows with Missing Data</a:t>
            </a:r>
            <a:endParaRPr lang="en-US" sz="1333"/>
          </a:p>
        </p:txBody>
      </p:sp>
      <p:sp>
        <p:nvSpPr>
          <p:cNvPr id="17" name="Shape 15"/>
          <p:cNvSpPr/>
          <p:nvPr/>
        </p:nvSpPr>
        <p:spPr>
          <a:xfrm>
            <a:off x="920496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Shape 16"/>
          <p:cNvSpPr/>
          <p:nvPr/>
        </p:nvSpPr>
        <p:spPr>
          <a:xfrm>
            <a:off x="9204960" y="1097280"/>
            <a:ext cx="2682240" cy="121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7"/>
          <p:cNvSpPr/>
          <p:nvPr/>
        </p:nvSpPr>
        <p:spPr>
          <a:xfrm>
            <a:off x="920496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22C55E"/>
                </a:solidFill>
              </a:rPr>
              <a:t>20</a:t>
            </a:r>
            <a:endParaRPr lang="en-US" sz="4267"/>
          </a:p>
        </p:txBody>
      </p:sp>
      <p:sp>
        <p:nvSpPr>
          <p:cNvPr id="20" name="Text 18"/>
          <p:cNvSpPr/>
          <p:nvPr/>
        </p:nvSpPr>
        <p:spPr>
          <a:xfrm>
            <a:off x="920496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Features After Cleaning</a:t>
            </a:r>
            <a:endParaRPr lang="en-US" sz="1333"/>
          </a:p>
        </p:txBody>
      </p:sp>
      <p:sp>
        <p:nvSpPr>
          <p:cNvPr id="21" name="Shape 19"/>
          <p:cNvSpPr/>
          <p:nvPr/>
        </p:nvSpPr>
        <p:spPr>
          <a:xfrm>
            <a:off x="243840" y="3108960"/>
            <a:ext cx="5486400" cy="316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2" name="Shape 20"/>
          <p:cNvSpPr/>
          <p:nvPr/>
        </p:nvSpPr>
        <p:spPr>
          <a:xfrm>
            <a:off x="243840" y="3108960"/>
            <a:ext cx="97536" cy="3169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487680" y="31699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What We Found in the Raw Data</a:t>
            </a:r>
            <a:endParaRPr lang="en-US" sz="1733"/>
          </a:p>
        </p:txBody>
      </p:sp>
      <p:sp>
        <p:nvSpPr>
          <p:cNvPr id="24" name="Text 22"/>
          <p:cNvSpPr/>
          <p:nvPr/>
        </p:nvSpPr>
        <p:spPr>
          <a:xfrm>
            <a:off x="487680" y="3779520"/>
            <a:ext cx="5120640" cy="2316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TotalCharges stored as text (object) instead of number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 rows had blank TotalCharges (new customers, tenure=0)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actual duplicate customer IDs found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Churn column: 'Yes'/'No' strings → converted to 1/0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customerID removed (not useful for modeling)</a:t>
            </a:r>
            <a:endParaRPr lang="en-US" sz="1467"/>
          </a:p>
        </p:txBody>
      </p:sp>
      <p:sp>
        <p:nvSpPr>
          <p:cNvPr id="25" name="Shape 23"/>
          <p:cNvSpPr/>
          <p:nvPr/>
        </p:nvSpPr>
        <p:spPr>
          <a:xfrm>
            <a:off x="6096000" y="3108960"/>
            <a:ext cx="5730240" cy="316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6" name="Shape 24"/>
          <p:cNvSpPr/>
          <p:nvPr/>
        </p:nvSpPr>
        <p:spPr>
          <a:xfrm>
            <a:off x="6096000" y="3108960"/>
            <a:ext cx="97536" cy="3169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7" name="Text 25"/>
          <p:cNvSpPr/>
          <p:nvPr/>
        </p:nvSpPr>
        <p:spPr>
          <a:xfrm>
            <a:off x="6339840" y="3169920"/>
            <a:ext cx="524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Feature Categories</a:t>
            </a:r>
            <a:endParaRPr lang="en-US" sz="1733"/>
          </a:p>
        </p:txBody>
      </p:sp>
      <p:sp>
        <p:nvSpPr>
          <p:cNvPr id="28" name="Shape 26"/>
          <p:cNvSpPr/>
          <p:nvPr/>
        </p:nvSpPr>
        <p:spPr>
          <a:xfrm>
            <a:off x="6339840" y="3803904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9" name="Text 27"/>
          <p:cNvSpPr/>
          <p:nvPr/>
        </p:nvSpPr>
        <p:spPr>
          <a:xfrm>
            <a:off x="6339840" y="3803904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Demographics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8046720" y="38039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gender, SeniorCitizen, Partner, Dependents</a:t>
            </a:r>
            <a:endParaRPr lang="en-US" sz="1200"/>
          </a:p>
        </p:txBody>
      </p:sp>
      <p:sp>
        <p:nvSpPr>
          <p:cNvPr id="31" name="Shape 29"/>
          <p:cNvSpPr/>
          <p:nvPr/>
        </p:nvSpPr>
        <p:spPr>
          <a:xfrm>
            <a:off x="6339840" y="4389120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2" name="Text 30"/>
          <p:cNvSpPr/>
          <p:nvPr/>
        </p:nvSpPr>
        <p:spPr>
          <a:xfrm>
            <a:off x="6339840" y="438912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Services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04672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PhoneService, InternetService, OnlineSecurity, TechSupport...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6339840" y="4974336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5" name="Text 33"/>
          <p:cNvSpPr/>
          <p:nvPr/>
        </p:nvSpPr>
        <p:spPr>
          <a:xfrm>
            <a:off x="6339840" y="4974336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Account Info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8046720" y="49743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Contract, PaymentMethod, PaperlessBilling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6339840" y="5559552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8" name="Text 36"/>
          <p:cNvSpPr/>
          <p:nvPr/>
        </p:nvSpPr>
        <p:spPr>
          <a:xfrm>
            <a:off x="6339840" y="5559552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Charges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8046720" y="55595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tenure, MonthlyCharges, TotalCharges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Key Finding #1: Churn Rate Overview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413760" cy="3901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341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7200" b="1">
                <a:solidFill>
                  <a:srgbClr val="EF4444"/>
                </a:solidFill>
              </a:rPr>
              <a:t>26.5%</a:t>
            </a:r>
            <a:endParaRPr lang="en-US" sz="720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34137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>
                <a:solidFill>
                  <a:srgbClr val="FFFFFF"/>
                </a:solidFill>
              </a:rPr>
              <a:t>Overall</a:t>
            </a:r>
            <a:endParaRPr lang="en-US" sz="1867"/>
          </a:p>
          <a:p>
            <a:pPr marL="0" indent="0" algn="ctr">
              <a:buNone/>
            </a:pPr>
            <a:r>
              <a:rPr lang="en-US" sz="1867">
                <a:solidFill>
                  <a:srgbClr val="FFFFFF"/>
                </a:solidFill>
              </a:rPr>
              <a:t>Churn Rate</a:t>
            </a:r>
            <a:endParaRPr lang="en-US" sz="1867"/>
          </a:p>
        </p:txBody>
      </p:sp>
      <p:sp>
        <p:nvSpPr>
          <p:cNvPr id="8" name="Shape 6"/>
          <p:cNvSpPr/>
          <p:nvPr/>
        </p:nvSpPr>
        <p:spPr>
          <a:xfrm>
            <a:off x="609600" y="3925824"/>
            <a:ext cx="292608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7"/>
          <p:cNvSpPr/>
          <p:nvPr/>
        </p:nvSpPr>
        <p:spPr>
          <a:xfrm>
            <a:off x="365760" y="4023360"/>
            <a:ext cx="341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1,869 out of 7,032 customers</a:t>
            </a:r>
            <a:endParaRPr lang="en-US" sz="1333"/>
          </a:p>
        </p:txBody>
      </p:sp>
      <p:graphicFrame>
        <p:nvGraphicFramePr>
          <p:cNvPr id="10" name="Chart 0"/>
          <p:cNvGraphicFramePr/>
          <p:nvPr/>
        </p:nvGraphicFramePr>
        <p:xfrm>
          <a:off x="4023360" y="1097280"/>
          <a:ext cx="4876800" cy="3901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9144000" y="1097280"/>
            <a:ext cx="2804160" cy="3901440"/>
          </a:xfrm>
          <a:prstGeom prst="rect">
            <a:avLst/>
          </a:prstGeom>
          <a:solidFill>
            <a:srgbClr val="1E3448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9"/>
          <p:cNvSpPr/>
          <p:nvPr/>
        </p:nvSpPr>
        <p:spPr>
          <a:xfrm>
            <a:off x="9204960" y="1219200"/>
            <a:ext cx="26822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06B6D4"/>
                </a:solidFill>
              </a:rPr>
              <a:t>💡 What This Means</a:t>
            </a:r>
            <a:endParaRPr lang="en-US" sz="1467"/>
          </a:p>
        </p:txBody>
      </p:sp>
      <p:sp>
        <p:nvSpPr>
          <p:cNvPr id="13" name="Text 10"/>
          <p:cNvSpPr/>
          <p:nvPr/>
        </p:nvSpPr>
        <p:spPr>
          <a:xfrm>
            <a:off x="9204960" y="1828800"/>
            <a:ext cx="268224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in 4
</a:t>
            </a:r>
            <a:endParaRPr lang="en-US" sz="2400"/>
          </a:p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leave
</a:t>
            </a:r>
            <a:endParaRPr lang="en-US" sz="2400"/>
          </a:p>
          <a:p>
            <a:pPr marL="0" indent="0">
              <a:buNone/>
            </a:pPr>
            <a:r>
              <a:rPr lang="en-US" sz="1267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significant. Industry avg is around 15–25%.
</a:t>
            </a:r>
            <a:endParaRPr lang="en-US" sz="2400"/>
          </a:p>
          <a:p>
            <a:pPr marL="0" indent="0">
              <a:buNone/>
            </a:pPr>
            <a:r>
              <a:rPr lang="en-US" sz="1267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imbalance (73% vs 27%) must be handled carefully in modeling.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0" y="646176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</a:rPr>
              <a:t>Data: IBM Telco Customer Churn Dataset  |  After Cleaning: 7,032 rows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67" b="1">
                <a:solidFill>
                  <a:srgbClr val="FFFFFF"/>
                </a:solidFill>
              </a:rPr>
              <a:t>Key Finding #2: Contract Type is the Strongest Predictor</a:t>
            </a:r>
            <a:endParaRPr lang="en-US" sz="2667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97280"/>
          <a:ext cx="7071360" cy="4145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802880" y="1097280"/>
            <a:ext cx="4145280" cy="41452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4"/>
          <p:cNvSpPr/>
          <p:nvPr/>
        </p:nvSpPr>
        <p:spPr>
          <a:xfrm>
            <a:off x="7924800" y="128016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EF4444"/>
                </a:solidFill>
              </a:rPr>
              <a:t>42.7%</a:t>
            </a:r>
            <a:endParaRPr lang="en-US" sz="3733"/>
          </a:p>
        </p:txBody>
      </p:sp>
      <p:sp>
        <p:nvSpPr>
          <p:cNvPr id="8" name="Text 5"/>
          <p:cNvSpPr/>
          <p:nvPr/>
        </p:nvSpPr>
        <p:spPr>
          <a:xfrm>
            <a:off x="9509760" y="140208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Month-to-Month</a:t>
            </a:r>
            <a:endParaRPr lang="en-US" sz="1467"/>
          </a:p>
        </p:txBody>
      </p:sp>
      <p:sp>
        <p:nvSpPr>
          <p:cNvPr id="9" name="Text 6"/>
          <p:cNvSpPr/>
          <p:nvPr/>
        </p:nvSpPr>
        <p:spPr>
          <a:xfrm>
            <a:off x="7924800" y="237744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F59E0B"/>
                </a:solidFill>
              </a:rPr>
              <a:t>11.3%</a:t>
            </a:r>
            <a:endParaRPr lang="en-US" sz="3733"/>
          </a:p>
        </p:txBody>
      </p:sp>
      <p:sp>
        <p:nvSpPr>
          <p:cNvPr id="10" name="Text 7"/>
          <p:cNvSpPr/>
          <p:nvPr/>
        </p:nvSpPr>
        <p:spPr>
          <a:xfrm>
            <a:off x="9509760" y="249936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One Year</a:t>
            </a:r>
            <a:endParaRPr lang="en-US" sz="1467"/>
          </a:p>
        </p:txBody>
      </p:sp>
      <p:sp>
        <p:nvSpPr>
          <p:cNvPr id="11" name="Text 8"/>
          <p:cNvSpPr/>
          <p:nvPr/>
        </p:nvSpPr>
        <p:spPr>
          <a:xfrm>
            <a:off x="7924800" y="347472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22C55E"/>
                </a:solidFill>
              </a:rPr>
              <a:t>2.8%</a:t>
            </a:r>
            <a:endParaRPr lang="en-US" sz="3733"/>
          </a:p>
        </p:txBody>
      </p:sp>
      <p:sp>
        <p:nvSpPr>
          <p:cNvPr id="12" name="Text 9"/>
          <p:cNvSpPr/>
          <p:nvPr/>
        </p:nvSpPr>
        <p:spPr>
          <a:xfrm>
            <a:off x="9509760" y="359664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Two Year</a:t>
            </a:r>
            <a:endParaRPr lang="en-US" sz="1467"/>
          </a:p>
        </p:txBody>
      </p:sp>
      <p:sp>
        <p:nvSpPr>
          <p:cNvPr id="13" name="Shape 10"/>
          <p:cNvSpPr/>
          <p:nvPr/>
        </p:nvSpPr>
        <p:spPr>
          <a:xfrm>
            <a:off x="7924800" y="4511040"/>
            <a:ext cx="390144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Text 11"/>
          <p:cNvSpPr/>
          <p:nvPr/>
        </p:nvSpPr>
        <p:spPr>
          <a:xfrm>
            <a:off x="7924800" y="4632960"/>
            <a:ext cx="39014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06B6D4"/>
                </a:solidFill>
              </a:rPr>
              <a:t>Month-to-month customers churn</a:t>
            </a:r>
            <a:endParaRPr lang="en-US" sz="1333"/>
          </a:p>
          <a:p>
            <a:pPr marL="0" indent="0" algn="ctr">
              <a:buNone/>
            </a:pPr>
            <a:r>
              <a:rPr lang="en-US" sz="1333" b="1">
                <a:solidFill>
                  <a:srgbClr val="06B6D4"/>
                </a:solidFill>
              </a:rPr>
              <a:t>15× more than 2-year contract customers!</a:t>
            </a:r>
            <a:endParaRPr lang="en-US" sz="1333"/>
          </a:p>
        </p:txBody>
      </p:sp>
      <p:sp>
        <p:nvSpPr>
          <p:cNvPr id="15" name="Shape 12"/>
          <p:cNvSpPr/>
          <p:nvPr/>
        </p:nvSpPr>
        <p:spPr>
          <a:xfrm>
            <a:off x="365760" y="5486400"/>
            <a:ext cx="11460480" cy="103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6" name="Text 13"/>
          <p:cNvSpPr/>
          <p:nvPr/>
        </p:nvSpPr>
        <p:spPr>
          <a:xfrm>
            <a:off x="609600" y="5583936"/>
            <a:ext cx="26822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F59E0B"/>
                </a:solidFill>
              </a:rPr>
              <a:t>🔑  Insight for Modeling:</a:t>
            </a:r>
            <a:endParaRPr lang="en-US" sz="1467"/>
          </a:p>
        </p:txBody>
      </p:sp>
      <p:sp>
        <p:nvSpPr>
          <p:cNvPr id="17" name="Text 14"/>
          <p:cNvSpPr/>
          <p:nvPr/>
        </p:nvSpPr>
        <p:spPr>
          <a:xfrm>
            <a:off x="3352800" y="5583936"/>
            <a:ext cx="829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type should be the top feature in the model. Month-to-month contracts are the highest-risk segment — targeting these customers for retention offers could drastically reduce churn.</a:t>
            </a:r>
            <a:endParaRPr lang="en-US" sz="1333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Key Finding #3: Tenure &amp; Monthly Charges</a:t>
            </a:r>
            <a:endParaRPr lang="en-US" sz="2933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36320"/>
          <a:ext cx="6705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37120" y="1097280"/>
            <a:ext cx="4511040" cy="195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4"/>
          <p:cNvSpPr/>
          <p:nvPr/>
        </p:nvSpPr>
        <p:spPr>
          <a:xfrm>
            <a:off x="7559040" y="1194816"/>
            <a:ext cx="4267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📅  Avg Tenure</a:t>
            </a:r>
            <a:endParaRPr lang="en-US" sz="1733"/>
          </a:p>
        </p:txBody>
      </p:sp>
      <p:sp>
        <p:nvSpPr>
          <p:cNvPr id="8" name="Shape 5"/>
          <p:cNvSpPr/>
          <p:nvPr/>
        </p:nvSpPr>
        <p:spPr>
          <a:xfrm>
            <a:off x="7559040" y="1706880"/>
            <a:ext cx="1889760" cy="1036320"/>
          </a:xfrm>
          <a:prstGeom prst="rect">
            <a:avLst/>
          </a:prstGeom>
          <a:solidFill>
            <a:srgbClr val="F0FFF4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6"/>
          <p:cNvSpPr/>
          <p:nvPr/>
        </p:nvSpPr>
        <p:spPr>
          <a:xfrm>
            <a:off x="7559040" y="170688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Retained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37.6 mo</a:t>
            </a:r>
            <a:endParaRPr lang="en-US" sz="1600"/>
          </a:p>
        </p:txBody>
      </p:sp>
      <p:sp>
        <p:nvSpPr>
          <p:cNvPr id="10" name="Shape 7"/>
          <p:cNvSpPr/>
          <p:nvPr/>
        </p:nvSpPr>
        <p:spPr>
          <a:xfrm>
            <a:off x="9875520" y="1706880"/>
            <a:ext cx="1889760" cy="103632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8"/>
          <p:cNvSpPr/>
          <p:nvPr/>
        </p:nvSpPr>
        <p:spPr>
          <a:xfrm>
            <a:off x="9875520" y="170688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Churned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17.9 mo</a:t>
            </a:r>
            <a:endParaRPr lang="en-US" sz="1600"/>
          </a:p>
        </p:txBody>
      </p:sp>
      <p:sp>
        <p:nvSpPr>
          <p:cNvPr id="12" name="Shape 9"/>
          <p:cNvSpPr/>
          <p:nvPr/>
        </p:nvSpPr>
        <p:spPr>
          <a:xfrm>
            <a:off x="7437120" y="3413760"/>
            <a:ext cx="4511040" cy="195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3" name="Text 10"/>
          <p:cNvSpPr/>
          <p:nvPr/>
        </p:nvSpPr>
        <p:spPr>
          <a:xfrm>
            <a:off x="7559040" y="3511296"/>
            <a:ext cx="4267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💰  Avg Monthly</a:t>
            </a:r>
            <a:endParaRPr lang="en-US" sz="1733"/>
          </a:p>
        </p:txBody>
      </p:sp>
      <p:sp>
        <p:nvSpPr>
          <p:cNvPr id="14" name="Shape 11"/>
          <p:cNvSpPr/>
          <p:nvPr/>
        </p:nvSpPr>
        <p:spPr>
          <a:xfrm>
            <a:off x="7559040" y="4023360"/>
            <a:ext cx="1889760" cy="1036320"/>
          </a:xfrm>
          <a:prstGeom prst="rect">
            <a:avLst/>
          </a:prstGeom>
          <a:solidFill>
            <a:srgbClr val="F0FFF4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2"/>
          <p:cNvSpPr/>
          <p:nvPr/>
        </p:nvSpPr>
        <p:spPr>
          <a:xfrm>
            <a:off x="7559040" y="402336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Retained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$61.27</a:t>
            </a:r>
            <a:endParaRPr lang="en-US" sz="1600"/>
          </a:p>
        </p:txBody>
      </p:sp>
      <p:sp>
        <p:nvSpPr>
          <p:cNvPr id="16" name="Shape 13"/>
          <p:cNvSpPr/>
          <p:nvPr/>
        </p:nvSpPr>
        <p:spPr>
          <a:xfrm>
            <a:off x="9875520" y="4023360"/>
            <a:ext cx="1889760" cy="103632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7" name="Text 14"/>
          <p:cNvSpPr/>
          <p:nvPr/>
        </p:nvSpPr>
        <p:spPr>
          <a:xfrm>
            <a:off x="9875520" y="402336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Churned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$74.44</a:t>
            </a:r>
            <a:endParaRPr lang="en-US" sz="1600"/>
          </a:p>
        </p:txBody>
      </p:sp>
      <p:sp>
        <p:nvSpPr>
          <p:cNvPr id="18" name="Shape 15"/>
          <p:cNvSpPr/>
          <p:nvPr/>
        </p:nvSpPr>
        <p:spPr>
          <a:xfrm>
            <a:off x="365760" y="4974336"/>
            <a:ext cx="11460480" cy="487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6"/>
          <p:cNvSpPr/>
          <p:nvPr/>
        </p:nvSpPr>
        <p:spPr>
          <a:xfrm>
            <a:off x="609600" y="4974336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</a:rPr>
              <a:t>🔑  The first 12 months are critical — nearly 50% churn! AND churners pay $13/month more on average.</a:t>
            </a:r>
            <a:endParaRPr lang="en-US" sz="1400"/>
          </a:p>
        </p:txBody>
      </p:sp>
      <p:graphicFrame>
        <p:nvGraphicFramePr>
          <p:cNvPr id="20" name="Chart 1"/>
          <p:cNvGraphicFramePr/>
          <p:nvPr/>
        </p:nvGraphicFramePr>
        <p:xfrm>
          <a:off x="365760" y="5608320"/>
          <a:ext cx="11460480" cy="975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67" b="1">
                <a:solidFill>
                  <a:srgbClr val="FFFFFF"/>
                </a:solidFill>
              </a:rPr>
              <a:t>Key Finding #4: Internet Service &amp; Payment Method</a:t>
            </a:r>
            <a:endParaRPr lang="en-US" sz="2667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97280"/>
          <a:ext cx="5486400" cy="3413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217920" y="1097280"/>
          <a:ext cx="5608320" cy="3413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4693920"/>
            <a:ext cx="5486400" cy="1706880"/>
          </a:xfrm>
          <a:prstGeom prst="rect">
            <a:avLst/>
          </a:prstGeom>
          <a:solidFill>
            <a:srgbClr val="1E344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Text 4"/>
          <p:cNvSpPr/>
          <p:nvPr/>
        </p:nvSpPr>
        <p:spPr>
          <a:xfrm>
            <a:off x="609600" y="4754880"/>
            <a:ext cx="49987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EF4444"/>
                </a:solidFill>
              </a:rPr>
              <a:t>⚠️  Surprising!</a:t>
            </a:r>
            <a:endParaRPr lang="en-US" sz="1733"/>
          </a:p>
        </p:txBody>
      </p:sp>
      <p:sp>
        <p:nvSpPr>
          <p:cNvPr id="9" name="Text 5"/>
          <p:cNvSpPr/>
          <p:nvPr/>
        </p:nvSpPr>
        <p:spPr>
          <a:xfrm>
            <a:off x="609600" y="524256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Optic is the PREMIUM service yet has the HIGHEST churn (42%). This suggests pricing dissatisfaction or service quality issues — not just usage patterns.</a:t>
            </a:r>
            <a:endParaRPr lang="en-US" sz="1333"/>
          </a:p>
        </p:txBody>
      </p:sp>
      <p:sp>
        <p:nvSpPr>
          <p:cNvPr id="10" name="Shape 6"/>
          <p:cNvSpPr/>
          <p:nvPr/>
        </p:nvSpPr>
        <p:spPr>
          <a:xfrm>
            <a:off x="6217920" y="4693920"/>
            <a:ext cx="5608320" cy="1706880"/>
          </a:xfrm>
          <a:prstGeom prst="rect">
            <a:avLst/>
          </a:prstGeom>
          <a:solidFill>
            <a:srgbClr val="1E344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7"/>
          <p:cNvSpPr/>
          <p:nvPr/>
        </p:nvSpPr>
        <p:spPr>
          <a:xfrm>
            <a:off x="6461760" y="475488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F59E0B"/>
                </a:solidFill>
              </a:rPr>
              <a:t>💡  Key Pattern:</a:t>
            </a:r>
            <a:endParaRPr lang="en-US" sz="1733"/>
          </a:p>
        </p:txBody>
      </p:sp>
      <p:sp>
        <p:nvSpPr>
          <p:cNvPr id="12" name="Text 8"/>
          <p:cNvSpPr/>
          <p:nvPr/>
        </p:nvSpPr>
        <p:spPr>
          <a:xfrm>
            <a:off x="6461760" y="5242560"/>
            <a:ext cx="512064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users churn 3× more than credit card users. Auto-pay methods (bank transfer, credit card) = lower churn — these customers are more committed.</a:t>
            </a:r>
            <a:endParaRPr lang="en-US" sz="1333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3032A-5904-F276-AA14-BDF555F19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D78D20-EBB0-344F-BF11-C0EE8D7A6DB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3A47F88-61DE-8EF7-1F11-FF192F763CD8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65D2F2B-A612-9C20-A1DE-F88C7CCB9D1B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700" b="1">
                <a:solidFill>
                  <a:srgbClr val="FFFFFF"/>
                </a:solidFill>
                <a:ea typeface="맑은 고딕"/>
              </a:rPr>
              <a:t>Feature</a:t>
            </a:r>
            <a:r>
              <a:rPr lang="ko-KR" altLang="en-US" sz="2700" b="1" dirty="0">
                <a:solidFill>
                  <a:srgbClr val="FFFFFF"/>
                </a:solidFill>
                <a:ea typeface="맑은 고딕"/>
              </a:rPr>
              <a:t> </a:t>
            </a:r>
            <a:r>
              <a:rPr lang="en-US" altLang="ko-KR" sz="2700" b="1">
                <a:solidFill>
                  <a:srgbClr val="FFFFFF"/>
                </a:solidFill>
                <a:ea typeface="맑은 고딕"/>
              </a:rPr>
              <a:t>Engineering</a:t>
            </a:r>
            <a:endParaRPr lang="en-US" sz="2700">
              <a:solidFill>
                <a:srgbClr val="000000"/>
              </a:solidFill>
              <a:ea typeface="맑은 고딕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EA04B117-9DD9-7AF0-4FA6-2727DEC2CA3B}"/>
              </a:ext>
            </a:extLst>
          </p:cNvPr>
          <p:cNvSpPr/>
          <p:nvPr/>
        </p:nvSpPr>
        <p:spPr>
          <a:xfrm>
            <a:off x="401835" y="1462399"/>
            <a:ext cx="2785955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/>
              <a:t>Label Encoding</a:t>
            </a:r>
            <a:endParaRPr lang="en-CA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460F0F1-7A52-82FC-D965-63BFCF4835C4}"/>
              </a:ext>
            </a:extLst>
          </p:cNvPr>
          <p:cNvSpPr/>
          <p:nvPr/>
        </p:nvSpPr>
        <p:spPr>
          <a:xfrm>
            <a:off x="3362684" y="1462399"/>
            <a:ext cx="4371616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One-Hot Encoding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CFA30E6-B1A1-903E-C0C2-21B8EE2FA017}"/>
              </a:ext>
            </a:extLst>
          </p:cNvPr>
          <p:cNvSpPr/>
          <p:nvPr/>
        </p:nvSpPr>
        <p:spPr>
          <a:xfrm>
            <a:off x="7923993" y="1462399"/>
            <a:ext cx="3827989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Standard Scaling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8CBE7166-EEFE-E6D8-9867-928F22E61DA2}"/>
              </a:ext>
            </a:extLst>
          </p:cNvPr>
          <p:cNvSpPr/>
          <p:nvPr/>
        </p:nvSpPr>
        <p:spPr>
          <a:xfrm>
            <a:off x="401836" y="1987183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Gender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347B238-B39B-C14C-F01E-F312B1140F28}"/>
              </a:ext>
            </a:extLst>
          </p:cNvPr>
          <p:cNvSpPr/>
          <p:nvPr/>
        </p:nvSpPr>
        <p:spPr>
          <a:xfrm>
            <a:off x="401836" y="3614661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Partner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582247A-21C2-4812-6ABB-292FB108B250}"/>
              </a:ext>
            </a:extLst>
          </p:cNvPr>
          <p:cNvSpPr/>
          <p:nvPr/>
        </p:nvSpPr>
        <p:spPr>
          <a:xfrm>
            <a:off x="401836" y="5254386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Churn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15BE1BB9-226B-C592-E106-48408F84EC30}"/>
              </a:ext>
            </a:extLst>
          </p:cNvPr>
          <p:cNvSpPr/>
          <p:nvPr/>
        </p:nvSpPr>
        <p:spPr>
          <a:xfrm>
            <a:off x="1923671" y="1987183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Female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B393671-553B-729D-C697-86E6F811AF85}"/>
              </a:ext>
            </a:extLst>
          </p:cNvPr>
          <p:cNvSpPr/>
          <p:nvPr/>
        </p:nvSpPr>
        <p:spPr>
          <a:xfrm>
            <a:off x="1923671" y="2476763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Male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964E28C-39B7-F1EB-FBCF-1B06B13D1D88}"/>
              </a:ext>
            </a:extLst>
          </p:cNvPr>
          <p:cNvSpPr/>
          <p:nvPr/>
        </p:nvSpPr>
        <p:spPr>
          <a:xfrm>
            <a:off x="1923671" y="3614661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4C89537-C223-8F48-55C6-41D0338E2076}"/>
              </a:ext>
            </a:extLst>
          </p:cNvPr>
          <p:cNvSpPr/>
          <p:nvPr/>
        </p:nvSpPr>
        <p:spPr>
          <a:xfrm>
            <a:off x="1923671" y="4118835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30D69260-57DC-3C70-9978-29A1E7741B62}"/>
              </a:ext>
            </a:extLst>
          </p:cNvPr>
          <p:cNvSpPr/>
          <p:nvPr/>
        </p:nvSpPr>
        <p:spPr>
          <a:xfrm>
            <a:off x="1923671" y="5254386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1BC64D7-7596-9CFF-63EF-065F5F6B43AA}"/>
              </a:ext>
            </a:extLst>
          </p:cNvPr>
          <p:cNvSpPr/>
          <p:nvPr/>
        </p:nvSpPr>
        <p:spPr>
          <a:xfrm>
            <a:off x="1923671" y="5721170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BF174E9-0B94-C9AF-CC05-4A80B5F90F16}"/>
              </a:ext>
            </a:extLst>
          </p:cNvPr>
          <p:cNvSpPr/>
          <p:nvPr/>
        </p:nvSpPr>
        <p:spPr>
          <a:xfrm>
            <a:off x="3362683" y="1987183"/>
            <a:ext cx="2229147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/>
              <a:t>MultipleLines</a:t>
            </a:r>
            <a:endParaRPr lang="en-CA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B04DE70-FE4A-953D-B3F1-6CE05B3A7041}"/>
              </a:ext>
            </a:extLst>
          </p:cNvPr>
          <p:cNvSpPr/>
          <p:nvPr/>
        </p:nvSpPr>
        <p:spPr>
          <a:xfrm>
            <a:off x="3362684" y="3614661"/>
            <a:ext cx="2229148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</a:t>
            </a:r>
            <a:endParaRPr lang="en-CA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6DA2986-B8F5-FBE2-7136-E11043D168A5}"/>
              </a:ext>
            </a:extLst>
          </p:cNvPr>
          <p:cNvSpPr/>
          <p:nvPr/>
        </p:nvSpPr>
        <p:spPr>
          <a:xfrm>
            <a:off x="3362683" y="5254386"/>
            <a:ext cx="2229147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Contract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B7FA1472-DDA4-E14B-0F21-BC3134224458}"/>
              </a:ext>
            </a:extLst>
          </p:cNvPr>
          <p:cNvSpPr/>
          <p:nvPr/>
        </p:nvSpPr>
        <p:spPr>
          <a:xfrm>
            <a:off x="5712743" y="198718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B36E6BC-B30F-8858-8C1D-7703E6042059}"/>
              </a:ext>
            </a:extLst>
          </p:cNvPr>
          <p:cNvSpPr/>
          <p:nvPr/>
        </p:nvSpPr>
        <p:spPr>
          <a:xfrm>
            <a:off x="5712743" y="247676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5888D47-6F3E-8D74-4377-82388935B9F6}"/>
              </a:ext>
            </a:extLst>
          </p:cNvPr>
          <p:cNvSpPr/>
          <p:nvPr/>
        </p:nvSpPr>
        <p:spPr>
          <a:xfrm>
            <a:off x="5712743" y="2971538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 Phone Service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030D1A-2321-9107-1A4E-95196E1CC03B}"/>
              </a:ext>
            </a:extLst>
          </p:cNvPr>
          <p:cNvSpPr/>
          <p:nvPr/>
        </p:nvSpPr>
        <p:spPr>
          <a:xfrm>
            <a:off x="5712743" y="3614661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DSL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17AA338-9D9E-562A-EF39-FFB525360C20}"/>
              </a:ext>
            </a:extLst>
          </p:cNvPr>
          <p:cNvSpPr/>
          <p:nvPr/>
        </p:nvSpPr>
        <p:spPr>
          <a:xfrm>
            <a:off x="5712743" y="4118835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79B8F457-AC3B-4B5E-B516-A108682BFF94}"/>
              </a:ext>
            </a:extLst>
          </p:cNvPr>
          <p:cNvSpPr/>
          <p:nvPr/>
        </p:nvSpPr>
        <p:spPr>
          <a:xfrm>
            <a:off x="5712743" y="4623009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Fiber optic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CBFAC5DD-1FC5-E7EE-B570-24FA3717480A}"/>
              </a:ext>
            </a:extLst>
          </p:cNvPr>
          <p:cNvSpPr/>
          <p:nvPr/>
        </p:nvSpPr>
        <p:spPr>
          <a:xfrm>
            <a:off x="5712743" y="5721170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One year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E1AD50-2798-07C9-0383-EC673DA83763}"/>
              </a:ext>
            </a:extLst>
          </p:cNvPr>
          <p:cNvSpPr/>
          <p:nvPr/>
        </p:nvSpPr>
        <p:spPr>
          <a:xfrm>
            <a:off x="5712743" y="5254386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Month-to-month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1D4506-E3A2-6A41-1FF5-CE50C9BB37E8}"/>
              </a:ext>
            </a:extLst>
          </p:cNvPr>
          <p:cNvSpPr/>
          <p:nvPr/>
        </p:nvSpPr>
        <p:spPr>
          <a:xfrm>
            <a:off x="5712743" y="620974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Two year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C6B2829-A9B6-D700-6641-D8C77A73CBC3}"/>
              </a:ext>
            </a:extLst>
          </p:cNvPr>
          <p:cNvSpPr/>
          <p:nvPr/>
        </p:nvSpPr>
        <p:spPr>
          <a:xfrm>
            <a:off x="7923994" y="1987183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>
                <a:latin typeface="Courier New" panose="02070309020205020404" pitchFamily="49" charset="0"/>
              </a:rPr>
              <a:t>Tenure</a:t>
            </a:r>
            <a:endParaRPr lang="en-CA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7FE1AA26-9AEE-D1FF-24A0-C31FF7AD23E8}"/>
              </a:ext>
            </a:extLst>
          </p:cNvPr>
          <p:cNvSpPr/>
          <p:nvPr/>
        </p:nvSpPr>
        <p:spPr>
          <a:xfrm>
            <a:off x="7923994" y="3614661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>
                <a:latin typeface="Courier New" panose="02070309020205020404" pitchFamily="49" charset="0"/>
              </a:rPr>
              <a:t>MonthlyCharges</a:t>
            </a:r>
            <a:endParaRPr lang="en-CA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46FFF6A-37F4-085D-1D74-1CB1F93C7097}"/>
              </a:ext>
            </a:extLst>
          </p:cNvPr>
          <p:cNvSpPr/>
          <p:nvPr/>
        </p:nvSpPr>
        <p:spPr>
          <a:xfrm>
            <a:off x="7923994" y="5254386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>
                <a:latin typeface="Courier New" panose="02070309020205020404" pitchFamily="49" charset="0"/>
              </a:rPr>
              <a:t>TotalCharges</a:t>
            </a:r>
            <a:endParaRPr lang="en-CA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AE5FD1E3-717A-E90C-9FC1-19ACF25ACB57}"/>
              </a:ext>
            </a:extLst>
          </p:cNvPr>
          <p:cNvSpPr/>
          <p:nvPr/>
        </p:nvSpPr>
        <p:spPr>
          <a:xfrm>
            <a:off x="10163175" y="1987183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0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9731859-6C03-3962-665D-3D00C231B59B}"/>
              </a:ext>
            </a:extLst>
          </p:cNvPr>
          <p:cNvSpPr/>
          <p:nvPr/>
        </p:nvSpPr>
        <p:spPr>
          <a:xfrm>
            <a:off x="10163175" y="2476763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72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ABD6C51-3280-0AF3-0402-468B00AC82B9}"/>
              </a:ext>
            </a:extLst>
          </p:cNvPr>
          <p:cNvSpPr/>
          <p:nvPr/>
        </p:nvSpPr>
        <p:spPr>
          <a:xfrm>
            <a:off x="10163175" y="3614661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18.25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37EDAD0E-14B1-6F4E-2A15-2A73CA14E6E1}"/>
              </a:ext>
            </a:extLst>
          </p:cNvPr>
          <p:cNvSpPr/>
          <p:nvPr/>
        </p:nvSpPr>
        <p:spPr>
          <a:xfrm>
            <a:off x="10163175" y="4118835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118.75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06669AE-0F4C-731F-9F7A-2C71DD63CFBD}"/>
              </a:ext>
            </a:extLst>
          </p:cNvPr>
          <p:cNvSpPr/>
          <p:nvPr/>
        </p:nvSpPr>
        <p:spPr>
          <a:xfrm>
            <a:off x="10163174" y="5254386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18.8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0CFAFD-5D7E-83FC-8A00-4D7E4AB221A5}"/>
              </a:ext>
            </a:extLst>
          </p:cNvPr>
          <p:cNvSpPr/>
          <p:nvPr/>
        </p:nvSpPr>
        <p:spPr>
          <a:xfrm>
            <a:off x="10163174" y="5721170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8684.8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DAB0DA0-8441-0262-E12A-A6B982913861}"/>
              </a:ext>
            </a:extLst>
          </p:cNvPr>
          <p:cNvSpPr/>
          <p:nvPr/>
        </p:nvSpPr>
        <p:spPr>
          <a:xfrm>
            <a:off x="1930929" y="1994440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2255E3A-DA35-0CB9-CBE1-D49033776954}"/>
              </a:ext>
            </a:extLst>
          </p:cNvPr>
          <p:cNvSpPr/>
          <p:nvPr/>
        </p:nvSpPr>
        <p:spPr>
          <a:xfrm>
            <a:off x="1930929" y="2471925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5416EDA-5F32-822D-6435-6DE1D56B3EDA}"/>
              </a:ext>
            </a:extLst>
          </p:cNvPr>
          <p:cNvSpPr/>
          <p:nvPr/>
        </p:nvSpPr>
        <p:spPr>
          <a:xfrm>
            <a:off x="1930929" y="3609823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E3D5E139-63DB-9733-BE83-1EF5284B4F83}"/>
              </a:ext>
            </a:extLst>
          </p:cNvPr>
          <p:cNvSpPr/>
          <p:nvPr/>
        </p:nvSpPr>
        <p:spPr>
          <a:xfrm>
            <a:off x="1930929" y="4113997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0840D19-A482-F1F0-3BBD-AB92EB98E930}"/>
              </a:ext>
            </a:extLst>
          </p:cNvPr>
          <p:cNvSpPr/>
          <p:nvPr/>
        </p:nvSpPr>
        <p:spPr>
          <a:xfrm>
            <a:off x="1943024" y="5249548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EC8DA3D-B75B-C687-26E3-9651F9855DC5}"/>
              </a:ext>
            </a:extLst>
          </p:cNvPr>
          <p:cNvSpPr/>
          <p:nvPr/>
        </p:nvSpPr>
        <p:spPr>
          <a:xfrm>
            <a:off x="1930929" y="5728427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3083F63-1AF1-766D-C2BA-E29BFF8BD210}"/>
              </a:ext>
            </a:extLst>
          </p:cNvPr>
          <p:cNvSpPr/>
          <p:nvPr/>
        </p:nvSpPr>
        <p:spPr>
          <a:xfrm>
            <a:off x="3360552" y="1994440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MultipleLines_No</a:t>
            </a:r>
            <a:endParaRPr lang="en-CA">
              <a:effectLst/>
            </a:endParaRP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1A0B01E1-060B-E931-FB83-BDD87BDD5503}"/>
              </a:ext>
            </a:extLst>
          </p:cNvPr>
          <p:cNvSpPr/>
          <p:nvPr/>
        </p:nvSpPr>
        <p:spPr>
          <a:xfrm>
            <a:off x="3360552" y="2480601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MultipleLines_Yes</a:t>
            </a:r>
            <a:endParaRPr lang="en-CA">
              <a:effectLst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C4DFB8A-0C5F-CAEC-295C-C593447F58DB}"/>
              </a:ext>
            </a:extLst>
          </p:cNvPr>
          <p:cNvSpPr/>
          <p:nvPr/>
        </p:nvSpPr>
        <p:spPr>
          <a:xfrm>
            <a:off x="3360552" y="2976941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MultipleLines_Nophone</a:t>
            </a:r>
            <a:r>
              <a:rPr lang="en-CA">
                <a:effectLst/>
              </a:rPr>
              <a:t> service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218B4E0-B0E1-EA20-CD38-34F4863082E7}"/>
              </a:ext>
            </a:extLst>
          </p:cNvPr>
          <p:cNvSpPr/>
          <p:nvPr/>
        </p:nvSpPr>
        <p:spPr>
          <a:xfrm>
            <a:off x="3365002" y="3620248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InternetService_DSL</a:t>
            </a:r>
            <a:endParaRPr lang="en-CA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5338BE0-A0BD-8592-5BC6-84DF20A7A1AB}"/>
              </a:ext>
            </a:extLst>
          </p:cNvPr>
          <p:cNvSpPr/>
          <p:nvPr/>
        </p:nvSpPr>
        <p:spPr>
          <a:xfrm>
            <a:off x="3365002" y="4118504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InternetService_No</a:t>
            </a:r>
            <a:endParaRPr lang="en-CA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BEB31AF-B296-C7B2-F0B9-98B5B87A8B7D}"/>
              </a:ext>
            </a:extLst>
          </p:cNvPr>
          <p:cNvSpPr/>
          <p:nvPr/>
        </p:nvSpPr>
        <p:spPr>
          <a:xfrm>
            <a:off x="3365002" y="4626939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InternetService_Fiber</a:t>
            </a:r>
            <a:endParaRPr lang="en-CA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81AD0D10-A98D-0990-8365-351FFEFC84D1}"/>
              </a:ext>
            </a:extLst>
          </p:cNvPr>
          <p:cNvSpPr/>
          <p:nvPr/>
        </p:nvSpPr>
        <p:spPr>
          <a:xfrm>
            <a:off x="3365002" y="5259973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Contract_Month</a:t>
            </a:r>
            <a:r>
              <a:rPr lang="en-CA"/>
              <a:t>-to-month</a:t>
            </a: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DA37C893-1F22-0459-3F61-61B1C82F7761}"/>
              </a:ext>
            </a:extLst>
          </p:cNvPr>
          <p:cNvSpPr/>
          <p:nvPr/>
        </p:nvSpPr>
        <p:spPr>
          <a:xfrm>
            <a:off x="3365002" y="5734039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Contract_One</a:t>
            </a:r>
            <a:r>
              <a:rPr lang="en-CA"/>
              <a:t> year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99224E93-D178-7EC7-0D4F-24319BEDA017}"/>
              </a:ext>
            </a:extLst>
          </p:cNvPr>
          <p:cNvSpPr/>
          <p:nvPr/>
        </p:nvSpPr>
        <p:spPr>
          <a:xfrm>
            <a:off x="3365002" y="6194093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Contract_Two</a:t>
            </a:r>
            <a:r>
              <a:rPr lang="en-CA"/>
              <a:t> year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08195F7C-6A7B-D13A-5904-DD3DA89DC94C}"/>
              </a:ext>
            </a:extLst>
          </p:cNvPr>
          <p:cNvSpPr/>
          <p:nvPr/>
        </p:nvSpPr>
        <p:spPr>
          <a:xfrm>
            <a:off x="10058400" y="1994441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-1.280248</a:t>
            </a: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5B1D8D39-3D26-AEC7-FFB2-2045AE9CDE78}"/>
              </a:ext>
            </a:extLst>
          </p:cNvPr>
          <p:cNvSpPr/>
          <p:nvPr/>
        </p:nvSpPr>
        <p:spPr>
          <a:xfrm>
            <a:off x="10058400" y="2471926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1.612573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B0556CBE-0EA5-952A-E9FA-112D39513C57}"/>
              </a:ext>
            </a:extLst>
          </p:cNvPr>
          <p:cNvSpPr/>
          <p:nvPr/>
        </p:nvSpPr>
        <p:spPr>
          <a:xfrm>
            <a:off x="10058400" y="3614150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-1.547283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A03DEDC-3825-994A-51E1-022307534219}"/>
              </a:ext>
            </a:extLst>
          </p:cNvPr>
          <p:cNvSpPr/>
          <p:nvPr/>
        </p:nvSpPr>
        <p:spPr>
          <a:xfrm>
            <a:off x="10058400" y="4115825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1.793381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3F206187-9F5F-84B3-EA9C-DBB9BAD5295E}"/>
              </a:ext>
            </a:extLst>
          </p:cNvPr>
          <p:cNvSpPr/>
          <p:nvPr/>
        </p:nvSpPr>
        <p:spPr>
          <a:xfrm>
            <a:off x="10058400" y="5259973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-0.999069</a:t>
            </a:r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0BE5D1C-D8F7-AB3D-7220-4F207A2D2138}"/>
              </a:ext>
            </a:extLst>
          </p:cNvPr>
          <p:cNvSpPr/>
          <p:nvPr/>
        </p:nvSpPr>
        <p:spPr>
          <a:xfrm>
            <a:off x="10058400" y="5721944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2.824261</a:t>
            </a:r>
          </a:p>
        </p:txBody>
      </p:sp>
    </p:spTree>
    <p:extLst>
      <p:ext uri="{BB962C8B-B14F-4D97-AF65-F5344CB8AC3E}">
        <p14:creationId xmlns:p14="http://schemas.microsoft.com/office/powerpoint/2010/main" val="3586854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6" grpId="0" animBg="1"/>
      <p:bldP spid="198" grpId="0" animBg="1"/>
      <p:bldP spid="200" grpId="0" animBg="1"/>
      <p:bldP spid="202" grpId="0" animBg="1"/>
      <p:bldP spid="204" grpId="0" animBg="1"/>
      <p:bldP spid="206" grpId="0" animBg="1"/>
      <p:bldP spid="208" grpId="0" animBg="1"/>
      <p:bldP spid="210" grpId="0" animBg="1"/>
      <p:bldP spid="212" grpId="0" animBg="1"/>
      <p:bldP spid="214" grpId="0" animBg="1"/>
      <p:bldP spid="216" grpId="0" animBg="1"/>
      <p:bldP spid="218" grpId="0" animBg="1"/>
      <p:bldP spid="220" grpId="0" animBg="1"/>
      <p:bldP spid="222" grpId="0" animBg="1"/>
      <p:bldP spid="224" grpId="0" animBg="1"/>
      <p:bldP spid="226" grpId="0" animBg="1"/>
      <p:bldP spid="228" grpId="0" animBg="1"/>
      <p:bldP spid="230" grpId="0" animBg="1"/>
      <p:bldP spid="232" grpId="0" animBg="1"/>
      <p:bldP spid="234" grpId="0" animBg="1"/>
      <p:bldP spid="2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FE6B-70B6-AD78-7133-B0F8A749D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6553CF5-AF78-145C-7F39-20894AE48DE7}"/>
              </a:ext>
            </a:extLst>
          </p:cNvPr>
          <p:cNvSpPr/>
          <p:nvPr/>
        </p:nvSpPr>
        <p:spPr>
          <a:xfrm>
            <a:off x="6631188" y="1346879"/>
            <a:ext cx="5026884" cy="1226707"/>
          </a:xfrm>
          <a:prstGeom prst="roundRect">
            <a:avLst>
              <a:gd name="adj" fmla="val 1014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/>
              <a:t>Data Splitting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EF3AA7-1FE8-459A-E48C-AE43A47AB5CB}"/>
              </a:ext>
            </a:extLst>
          </p:cNvPr>
          <p:cNvSpPr/>
          <p:nvPr/>
        </p:nvSpPr>
        <p:spPr>
          <a:xfrm>
            <a:off x="6787986" y="1777063"/>
            <a:ext cx="3445220" cy="771809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Train</a:t>
            </a:r>
          </a:p>
          <a:p>
            <a:pPr algn="ctr"/>
            <a:r>
              <a:rPr lang="en-CA" sz="2400"/>
              <a:t>80%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73395E-91F7-4E63-2DE9-7E28102C4866}"/>
              </a:ext>
            </a:extLst>
          </p:cNvPr>
          <p:cNvSpPr/>
          <p:nvPr/>
        </p:nvSpPr>
        <p:spPr>
          <a:xfrm>
            <a:off x="10233206" y="1777063"/>
            <a:ext cx="1260390" cy="77180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3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Test</a:t>
            </a:r>
          </a:p>
          <a:p>
            <a:pPr algn="ctr"/>
            <a:r>
              <a:rPr lang="en-CA" sz="2400"/>
              <a:t>20%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4549722-52E6-C6E3-B9C0-CC3EBAE7AC05}"/>
              </a:ext>
            </a:extLst>
          </p:cNvPr>
          <p:cNvSpPr/>
          <p:nvPr/>
        </p:nvSpPr>
        <p:spPr>
          <a:xfrm>
            <a:off x="249345" y="1346879"/>
            <a:ext cx="5771359" cy="5301055"/>
          </a:xfrm>
          <a:prstGeom prst="roundRect">
            <a:avLst>
              <a:gd name="adj" fmla="val 430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/>
              <a:t>Comparison of 8 Classification Algorithms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E6159BA-4F38-10D9-3718-71C1D2BA1CE2}"/>
              </a:ext>
            </a:extLst>
          </p:cNvPr>
          <p:cNvSpPr/>
          <p:nvPr/>
        </p:nvSpPr>
        <p:spPr>
          <a:xfrm>
            <a:off x="402345" y="1972291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LogisticRegression</a:t>
            </a:r>
            <a:endParaRPr lang="en-CA" sz="1600" b="1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DED85D-C72C-D4D4-FAFF-3F6176D17C89}"/>
              </a:ext>
            </a:extLst>
          </p:cNvPr>
          <p:cNvSpPr/>
          <p:nvPr/>
        </p:nvSpPr>
        <p:spPr>
          <a:xfrm>
            <a:off x="3192179" y="1972291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KNeighborsClassifier</a:t>
            </a:r>
            <a:endParaRPr lang="en-CA" sz="160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B8F072-28C8-F4B2-EC18-9F9DE977669B}"/>
              </a:ext>
            </a:extLst>
          </p:cNvPr>
          <p:cNvSpPr/>
          <p:nvPr/>
        </p:nvSpPr>
        <p:spPr>
          <a:xfrm>
            <a:off x="402345" y="3160136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/>
              <a:t>SVM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F9DE121-139F-F140-9632-B1B2B19CB1F8}"/>
              </a:ext>
            </a:extLst>
          </p:cNvPr>
          <p:cNvSpPr/>
          <p:nvPr/>
        </p:nvSpPr>
        <p:spPr>
          <a:xfrm>
            <a:off x="3192179" y="3160136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DecisionTreeClassifier</a:t>
            </a:r>
            <a:endParaRPr lang="en-CA" sz="1600" b="1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08E81BE-9C40-4F4B-4534-5FED2948CE57}"/>
              </a:ext>
            </a:extLst>
          </p:cNvPr>
          <p:cNvSpPr/>
          <p:nvPr/>
        </p:nvSpPr>
        <p:spPr>
          <a:xfrm>
            <a:off x="402345" y="4347981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RandomForestClassifier</a:t>
            </a:r>
            <a:endParaRPr lang="en-CA" sz="1600" b="1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938C73-C85C-BAE1-2DE2-2CCDDE5DEECB}"/>
              </a:ext>
            </a:extLst>
          </p:cNvPr>
          <p:cNvSpPr/>
          <p:nvPr/>
        </p:nvSpPr>
        <p:spPr>
          <a:xfrm>
            <a:off x="3192179" y="4347981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GradientBoostingClassifier</a:t>
            </a:r>
            <a:endParaRPr lang="en-CA" sz="1600" b="1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6262F7-63B4-2CFC-29CA-EC0942B8F90B}"/>
              </a:ext>
            </a:extLst>
          </p:cNvPr>
          <p:cNvSpPr/>
          <p:nvPr/>
        </p:nvSpPr>
        <p:spPr>
          <a:xfrm>
            <a:off x="402345" y="5535827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/>
              <a:t>Naïve Bayes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EC707E-2BDA-A322-00E9-AEF284D963BE}"/>
              </a:ext>
            </a:extLst>
          </p:cNvPr>
          <p:cNvSpPr/>
          <p:nvPr/>
        </p:nvSpPr>
        <p:spPr>
          <a:xfrm>
            <a:off x="3192179" y="5535827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XGBClassifier</a:t>
            </a:r>
            <a:endParaRPr lang="en-CA" sz="1600" b="1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018DC2C-D046-02F1-968E-807E4F337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200" y="2647728"/>
            <a:ext cx="5948474" cy="3996842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EFBCD17E-F1D4-24EA-43A8-CFFBB641B3BE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3F28B457-F939-C862-5EC5-F9D9A4D3FE6D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7D923E7B-B4B0-995A-55FC-DC1161F89580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650" b="1">
                <a:solidFill>
                  <a:srgbClr val="FFFFFF"/>
                </a:solidFill>
                <a:ea typeface="맑은 고딕"/>
                <a:cs typeface="Calibri"/>
              </a:rPr>
              <a:t>Dataset Splitting and Training Strategy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50977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67FC6-B74C-11F4-3AE3-0569081F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5CFA9454-BE83-0F04-1997-5BB7355EF4F2}"/>
              </a:ext>
            </a:extLst>
          </p:cNvPr>
          <p:cNvGraphicFramePr/>
          <p:nvPr/>
        </p:nvGraphicFramePr>
        <p:xfrm>
          <a:off x="65902" y="1427380"/>
          <a:ext cx="5980670" cy="52757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C365818-6B17-6048-F4D7-A0B364B3F02C}"/>
              </a:ext>
            </a:extLst>
          </p:cNvPr>
          <p:cNvSpPr/>
          <p:nvPr/>
        </p:nvSpPr>
        <p:spPr>
          <a:xfrm>
            <a:off x="159589" y="2323418"/>
            <a:ext cx="5850212" cy="931985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CA" sz="2000" b="1" kern="1200"/>
              <a:t>0.84</a:t>
            </a:r>
            <a:br>
              <a:rPr lang="en-CA" sz="2000" b="1" kern="1200"/>
            </a:br>
            <a:endParaRPr lang="en-CA" sz="1000" b="1" kern="1200"/>
          </a:p>
          <a:p>
            <a:pPr algn="r"/>
            <a:r>
              <a:rPr lang="en-CA" sz="2000" b="1"/>
              <a:t>0.83</a:t>
            </a:r>
            <a:endParaRPr lang="en-CA" sz="2000" b="1" kern="1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ABEE48-9062-38CA-0627-4AB5AF40F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307" y="1606252"/>
            <a:ext cx="6096000" cy="491798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C87BD1C-4ED3-86A8-6C2A-3803B8D6EC82}"/>
              </a:ext>
            </a:extLst>
          </p:cNvPr>
          <p:cNvSpPr/>
          <p:nvPr/>
        </p:nvSpPr>
        <p:spPr>
          <a:xfrm>
            <a:off x="3212835" y="3066404"/>
            <a:ext cx="5873578" cy="2082121"/>
          </a:xfrm>
          <a:prstGeom prst="roundRect">
            <a:avLst>
              <a:gd name="adj" fmla="val 4302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accent1">
                    <a:lumMod val="60000"/>
                    <a:lumOff val="40000"/>
                  </a:schemeClr>
                </a:solidFill>
              </a:rPr>
              <a:t>Evaluation Metric</a:t>
            </a:r>
          </a:p>
          <a:p>
            <a:pPr algn="ctr"/>
            <a:endParaRPr lang="en-CA" sz="2000"/>
          </a:p>
          <a:p>
            <a:r>
              <a:rPr lang="en-CA" sz="4400"/>
              <a:t>  CM         ROC       Recall</a:t>
            </a:r>
            <a:br>
              <a:rPr lang="en-CA" sz="4400"/>
            </a:br>
            <a:r>
              <a:rPr lang="en-CA" sz="1400"/>
              <a:t>   Confusion Matrix           Roc Curve Core Metric                    Key Indicator</a:t>
            </a:r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85AF2695-FDAA-DFD0-E55C-5E4B87B1608F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9DDEE240-0B0B-9190-F9B2-B166DD721C20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9F33DCC5-C5B0-CD99-86DA-30C3EEB61D08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Performance Evaluation and Selection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264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974D9-71B2-D3A8-DD2D-DE5F5B2B9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56129E-591B-D890-E536-2457F145E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42" y="1129447"/>
            <a:ext cx="5599155" cy="53169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6BD327-978F-1C6E-104F-C9E57EEA9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586" y="1403581"/>
            <a:ext cx="5898534" cy="4767635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9C742C30-7B6A-7AFF-766E-F2A44F128857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A7C4F1A3-6C9E-F941-14C7-9942950E11FB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0AE785BF-B053-6FE0-900E-9D225F8AD9FA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SHAP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43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6797-7D04-B6B7-7392-EB17C456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51000D5-87F4-8A8F-9636-5F7078DB1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084" y="4103045"/>
            <a:ext cx="6053793" cy="268081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06B0310-10EA-C9B5-F8D9-AB6F90AE2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263" y="1323744"/>
            <a:ext cx="5786192" cy="266500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CA576AD-4F05-BC57-2852-93BDB8AF4D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745" y="1323744"/>
            <a:ext cx="5798565" cy="2665001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360D4198-4F99-FDC8-1E09-BF7D20026CE6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4FEECAA-AC57-5821-E2B5-6FEA02D9A631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D27B2BA-AC33-03D0-737B-1A5404941771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 dirty="0">
                <a:solidFill>
                  <a:srgbClr val="FFFFFF"/>
                </a:solidFill>
                <a:ea typeface="+mn-lt"/>
                <a:cs typeface="+mn-lt"/>
              </a:rPr>
              <a:t>Model analysis </a:t>
            </a:r>
            <a:r>
              <a:rPr lang="en-US" altLang="ko-KR" sz="2650" dirty="0">
                <a:solidFill>
                  <a:srgbClr val="FFFFFF"/>
                </a:solidFill>
                <a:ea typeface="+mn-lt"/>
                <a:cs typeface="+mn-lt"/>
              </a:rPr>
              <a:t>–</a:t>
            </a:r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 SHAP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Dependence</a:t>
            </a:r>
            <a:r>
              <a:rPr lang="ko-KR" altLang="en-US" sz="2650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Plot</a:t>
            </a:r>
            <a:endParaRPr lang="ko-KR" altLang="en-US" sz="2650">
              <a:solidFill>
                <a:srgbClr val="FFFFFF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6451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11EB4-9A60-BF29-403F-E6C892363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F4CC09-EF34-19B4-BCD4-CFF36B73C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7148" y="1020312"/>
            <a:ext cx="6850943" cy="116237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64143-3231-AF7F-58CD-AC2509E2B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9757" y="2548254"/>
            <a:ext cx="7883610" cy="4310749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E9C8A43D-2051-FB04-9402-AB9956A3178A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396B4611-2D5D-BA1F-8E66-72CFCE67886E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BC5B75EA-579D-3237-35EC-4BC40DDDA153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SHAP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692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FB5E-E472-A6E0-C41A-857FED3A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43C840-0D25-8C13-3629-CB8F854DCA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920"/>
          <a:stretch>
            <a:fillRect/>
          </a:stretch>
        </p:blipFill>
        <p:spPr>
          <a:xfrm>
            <a:off x="309436" y="1544956"/>
            <a:ext cx="6459716" cy="5032079"/>
          </a:xfrm>
          <a:prstGeom prst="rect">
            <a:avLst/>
          </a:prstGeo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96D3455F-645E-5283-A87C-A64DC6F71F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870358" y="1359242"/>
            <a:ext cx="5074508" cy="5498757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054716AA-3AC5-B1AF-6748-CDDC16313A42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0785B061-96D2-7CE6-CB2F-6AE3CE1A0365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8BE0ECD2-3FE6-1EB7-A216-DDA95530C929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LIME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00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52C0885-734D-2F70-66D0-3E08272D11A1}"/>
              </a:ext>
            </a:extLst>
          </p:cNvPr>
          <p:cNvSpPr/>
          <p:nvPr/>
        </p:nvSpPr>
        <p:spPr>
          <a:xfrm>
            <a:off x="527259" y="1899978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CHURN RATE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26.5%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66DE237-A4DB-AB9F-5D48-0E18CC181EF6}"/>
              </a:ext>
            </a:extLst>
          </p:cNvPr>
          <p:cNvSpPr/>
          <p:nvPr/>
        </p:nvSpPr>
        <p:spPr>
          <a:xfrm>
            <a:off x="4328963" y="1899977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RECALL SCORE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0.78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936FDCF-2AA7-759B-DAA7-9C38A5185DE6}"/>
              </a:ext>
            </a:extLst>
          </p:cNvPr>
          <p:cNvSpPr/>
          <p:nvPr/>
        </p:nvSpPr>
        <p:spPr>
          <a:xfrm>
            <a:off x="8130667" y="1899976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Target Customer​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1,869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ABC3E6-7368-FEDC-317B-AB9748C6E205}"/>
              </a:ext>
            </a:extLst>
          </p:cNvPr>
          <p:cNvSpPr/>
          <p:nvPr/>
        </p:nvSpPr>
        <p:spPr>
          <a:xfrm>
            <a:off x="527259" y="4179193"/>
            <a:ext cx="11170392" cy="2082121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KEY POINT</a:t>
            </a:r>
            <a:br>
              <a:rPr lang="en-CA" sz="2000">
                <a:solidFill>
                  <a:schemeClr val="bg1"/>
                </a:solidFill>
              </a:rPr>
            </a:br>
            <a:endParaRPr lang="en-CA" sz="2000">
              <a:solidFill>
                <a:schemeClr val="bg1"/>
              </a:solidFill>
            </a:endParaRPr>
          </a:p>
          <a:p>
            <a:pPr algn="ctr"/>
            <a:r>
              <a:rPr lang="en-CA" sz="3000">
                <a:solidFill>
                  <a:schemeClr val="accent1">
                    <a:lumMod val="60000"/>
                    <a:lumOff val="40000"/>
                  </a:schemeClr>
                </a:solidFill>
              </a:rPr>
              <a:t>Recall-centric design to avoid losing potential churn customers, </a:t>
            </a:r>
          </a:p>
          <a:p>
            <a:pPr algn="ctr"/>
            <a:r>
              <a:rPr lang="en-CA" sz="3000">
                <a:solidFill>
                  <a:schemeClr val="accent1">
                    <a:lumMod val="60000"/>
                    <a:lumOff val="40000"/>
                  </a:schemeClr>
                </a:solidFill>
              </a:rPr>
              <a:t>rather than precision for cost reduction in churn prevention.</a:t>
            </a:r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7A59A98A-F459-37B2-825B-C6DF8DEEFFBC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505A5E43-AECE-325B-A6A2-9D43F4362FFC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AA500B29-1309-5CCD-57A8-D94F5421C6E2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DASH </a:t>
            </a:r>
            <a:r>
              <a:rPr lang="en-US" sz="2650">
                <a:solidFill>
                  <a:srgbClr val="FFFFFF"/>
                </a:solidFill>
                <a:ea typeface="+mn-lt"/>
                <a:cs typeface="+mn-lt"/>
              </a:rPr>
              <a:t>ANALYTICS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98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267200"/>
            <a:ext cx="4876800" cy="4876800"/>
          </a:xfrm>
          <a:prstGeom prst="ellipse">
            <a:avLst/>
          </a:prstGeom>
          <a:solidFill>
            <a:srgbClr val="0891B2">
              <a:alpha val="10000"/>
            </a:srgbClr>
          </a:solidFill>
          <a:ln w="12700">
            <a:solidFill>
              <a:srgbClr val="06B6D4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426720" y="365760"/>
            <a:ext cx="10972800" cy="8534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Summary &amp; What's Next</a:t>
            </a:r>
            <a:endParaRPr lang="en-US" sz="4000"/>
          </a:p>
        </p:txBody>
      </p:sp>
      <p:sp>
        <p:nvSpPr>
          <p:cNvPr id="5" name="Shape 3"/>
          <p:cNvSpPr/>
          <p:nvPr/>
        </p:nvSpPr>
        <p:spPr>
          <a:xfrm>
            <a:off x="426720" y="1463040"/>
            <a:ext cx="512064" cy="51206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426720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1</a:t>
            </a:r>
            <a:endParaRPr lang="en-US" sz="1733"/>
          </a:p>
        </p:txBody>
      </p:sp>
      <p:sp>
        <p:nvSpPr>
          <p:cNvPr id="7" name="Text 5"/>
          <p:cNvSpPr/>
          <p:nvPr/>
        </p:nvSpPr>
        <p:spPr>
          <a:xfrm>
            <a:off x="1097280" y="1511808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Overall churn rate: 26.5% (~1 in 4 customers leave)</a:t>
            </a:r>
            <a:endParaRPr lang="en-US" sz="1533"/>
          </a:p>
        </p:txBody>
      </p:sp>
      <p:sp>
        <p:nvSpPr>
          <p:cNvPr id="8" name="Shape 6"/>
          <p:cNvSpPr/>
          <p:nvPr/>
        </p:nvSpPr>
        <p:spPr>
          <a:xfrm>
            <a:off x="426720" y="2231136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7"/>
          <p:cNvSpPr/>
          <p:nvPr/>
        </p:nvSpPr>
        <p:spPr>
          <a:xfrm>
            <a:off x="426720" y="2231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2</a:t>
            </a:r>
            <a:endParaRPr lang="en-US" sz="1733"/>
          </a:p>
        </p:txBody>
      </p:sp>
      <p:sp>
        <p:nvSpPr>
          <p:cNvPr id="10" name="Text 8"/>
          <p:cNvSpPr/>
          <p:nvPr/>
        </p:nvSpPr>
        <p:spPr>
          <a:xfrm>
            <a:off x="1097280" y="2279904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Month-to-month contracts: 42.7% churn vs 2.8% for 2-year</a:t>
            </a:r>
            <a:endParaRPr lang="en-US" sz="1533"/>
          </a:p>
        </p:txBody>
      </p:sp>
      <p:sp>
        <p:nvSpPr>
          <p:cNvPr id="11" name="Shape 9"/>
          <p:cNvSpPr/>
          <p:nvPr/>
        </p:nvSpPr>
        <p:spPr>
          <a:xfrm>
            <a:off x="426720" y="2999232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10"/>
          <p:cNvSpPr/>
          <p:nvPr/>
        </p:nvSpPr>
        <p:spPr>
          <a:xfrm>
            <a:off x="426720" y="2999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3</a:t>
            </a:r>
            <a:endParaRPr lang="en-US" sz="1733"/>
          </a:p>
        </p:txBody>
      </p:sp>
      <p:sp>
        <p:nvSpPr>
          <p:cNvPr id="13" name="Text 11"/>
          <p:cNvSpPr/>
          <p:nvPr/>
        </p:nvSpPr>
        <p:spPr>
          <a:xfrm>
            <a:off x="1097280" y="3048000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New customers (0-12 months) are at highest risk: ~48% churn</a:t>
            </a:r>
            <a:endParaRPr lang="en-US" sz="1533"/>
          </a:p>
        </p:txBody>
      </p:sp>
      <p:sp>
        <p:nvSpPr>
          <p:cNvPr id="14" name="Shape 12"/>
          <p:cNvSpPr/>
          <p:nvPr/>
        </p:nvSpPr>
        <p:spPr>
          <a:xfrm>
            <a:off x="426720" y="3767328"/>
            <a:ext cx="512064" cy="51206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426720" y="3767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4</a:t>
            </a:r>
            <a:endParaRPr lang="en-US" sz="1733"/>
          </a:p>
        </p:txBody>
      </p:sp>
      <p:sp>
        <p:nvSpPr>
          <p:cNvPr id="16" name="Text 14"/>
          <p:cNvSpPr/>
          <p:nvPr/>
        </p:nvSpPr>
        <p:spPr>
          <a:xfrm>
            <a:off x="1097280" y="3816096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Fiber optic users churn most despite being premium service</a:t>
            </a:r>
            <a:endParaRPr lang="en-US" sz="1533"/>
          </a:p>
        </p:txBody>
      </p:sp>
      <p:sp>
        <p:nvSpPr>
          <p:cNvPr id="17" name="Shape 15"/>
          <p:cNvSpPr/>
          <p:nvPr/>
        </p:nvSpPr>
        <p:spPr>
          <a:xfrm>
            <a:off x="426720" y="4535424"/>
            <a:ext cx="512064" cy="51206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Text 16"/>
          <p:cNvSpPr/>
          <p:nvPr/>
        </p:nvSpPr>
        <p:spPr>
          <a:xfrm>
            <a:off x="426720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5</a:t>
            </a:r>
            <a:endParaRPr lang="en-US" sz="1733"/>
          </a:p>
        </p:txBody>
      </p:sp>
      <p:sp>
        <p:nvSpPr>
          <p:cNvPr id="19" name="Text 17"/>
          <p:cNvSpPr/>
          <p:nvPr/>
        </p:nvSpPr>
        <p:spPr>
          <a:xfrm>
            <a:off x="1097280" y="4584192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Electronic check → highest churn; auto-pay methods → lowest</a:t>
            </a:r>
            <a:endParaRPr lang="en-US" sz="1533"/>
          </a:p>
        </p:txBody>
      </p:sp>
      <p:sp>
        <p:nvSpPr>
          <p:cNvPr id="20" name="Shape 18"/>
          <p:cNvSpPr/>
          <p:nvPr/>
        </p:nvSpPr>
        <p:spPr>
          <a:xfrm>
            <a:off x="8534400" y="1158240"/>
            <a:ext cx="3413760" cy="4693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8656320" y="12801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>
                <a:solidFill>
                  <a:srgbClr val="06B6D4"/>
                </a:solidFill>
              </a:rPr>
              <a:t>🤝  Passing to</a:t>
            </a:r>
            <a:endParaRPr lang="en-US" sz="1867"/>
          </a:p>
          <a:p>
            <a:pPr marL="0" indent="0" algn="ctr">
              <a:buNone/>
            </a:pPr>
            <a:r>
              <a:rPr lang="en-US" sz="1867" b="1">
                <a:solidFill>
                  <a:srgbClr val="06B6D4"/>
                </a:solidFill>
              </a:rPr>
              <a:t>Student 2</a:t>
            </a:r>
            <a:endParaRPr lang="en-US" sz="1867"/>
          </a:p>
        </p:txBody>
      </p:sp>
      <p:sp>
        <p:nvSpPr>
          <p:cNvPr id="22" name="Shape 20"/>
          <p:cNvSpPr/>
          <p:nvPr/>
        </p:nvSpPr>
        <p:spPr>
          <a:xfrm>
            <a:off x="8778240" y="2218944"/>
            <a:ext cx="292608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8656320" y="2377440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cleaned_telco_churn.csv</a:t>
            </a:r>
            <a:endParaRPr lang="en-US" sz="1333"/>
          </a:p>
        </p:txBody>
      </p:sp>
      <p:sp>
        <p:nvSpPr>
          <p:cNvPr id="24" name="Text 22"/>
          <p:cNvSpPr/>
          <p:nvPr/>
        </p:nvSpPr>
        <p:spPr>
          <a:xfrm>
            <a:off x="8656320" y="3011424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Churn encoded as 0/1</a:t>
            </a:r>
            <a:endParaRPr lang="en-US" sz="1333"/>
          </a:p>
        </p:txBody>
      </p:sp>
      <p:sp>
        <p:nvSpPr>
          <p:cNvPr id="25" name="Text 23"/>
          <p:cNvSpPr/>
          <p:nvPr/>
        </p:nvSpPr>
        <p:spPr>
          <a:xfrm>
            <a:off x="8656320" y="3645408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Top 5 features identified</a:t>
            </a:r>
            <a:endParaRPr lang="en-US" sz="1333"/>
          </a:p>
        </p:txBody>
      </p:sp>
      <p:sp>
        <p:nvSpPr>
          <p:cNvPr id="26" name="Text 24"/>
          <p:cNvSpPr/>
          <p:nvPr/>
        </p:nvSpPr>
        <p:spPr>
          <a:xfrm>
            <a:off x="8656320" y="4279392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Recommend: handle class</a:t>
            </a:r>
            <a:endParaRPr lang="en-US" sz="1333"/>
          </a:p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imbalance (73/27 split)</a:t>
            </a:r>
            <a:endParaRPr lang="en-US" sz="1333"/>
          </a:p>
        </p:txBody>
      </p:sp>
      <p:sp>
        <p:nvSpPr>
          <p:cNvPr id="27" name="Text 25"/>
          <p:cNvSpPr/>
          <p:nvPr/>
        </p:nvSpPr>
        <p:spPr>
          <a:xfrm>
            <a:off x="8656320" y="4913376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Focus metric: Recall</a:t>
            </a:r>
            <a:endParaRPr lang="en-US" sz="1333"/>
          </a:p>
        </p:txBody>
      </p:sp>
      <p:sp>
        <p:nvSpPr>
          <p:cNvPr id="28" name="Shape 26"/>
          <p:cNvSpPr/>
          <p:nvPr/>
        </p:nvSpPr>
        <p:spPr>
          <a:xfrm>
            <a:off x="426720" y="5852160"/>
            <a:ext cx="7924800" cy="670560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9" name="Text 27"/>
          <p:cNvSpPr/>
          <p:nvPr/>
        </p:nvSpPr>
        <p:spPr>
          <a:xfrm>
            <a:off x="609600" y="5876544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i="1">
                <a:solidFill>
                  <a:srgbClr val="FFFFFF"/>
                </a:solidFill>
              </a:rPr>
              <a:t>Clean data is the foundation. Without solid EDA, the model has no reliable base to learn from.</a:t>
            </a:r>
            <a:endParaRPr lang="en-US" sz="1467"/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30" name="Object 29">
                <a:extLst>
                  <a:ext uri="{FF2B5EF4-FFF2-40B4-BE49-F238E27FC236}">
                    <a16:creationId xmlns:a16="http://schemas.microsoft.com/office/drawing/2014/main" id="{19B42014-B85D-C352-E2AD-AFE01241D337}"/>
                  </a:ext>
                </a:extLst>
              </p:cNvPr>
              <p:cNvGraphicFramePr/>
              <p:nvPr/>
            </p:nvGraphicFramePr>
            <p:xfrm>
              <a:off x="1126435" y="635000"/>
              <a:ext cx="9939130" cy="55879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30" name="Object 29">
                <a:extLst>
                  <a:ext uri="{FF2B5EF4-FFF2-40B4-BE49-F238E27FC236}">
                    <a16:creationId xmlns:a16="http://schemas.microsoft.com/office/drawing/2014/main" id="{19B42014-B85D-C352-E2AD-AFE01241D33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>
                <a:clrChange>
                  <a:clrFrom>
                    <a:prstClr val="black"/>
                  </a:clrFrom>
                  <a:clrTo>
                    <a:prstClr val="black">
                      <a:alpha val="0"/>
                    </a:prstClr>
                  </a:clrTo>
                </a:clrChange>
              </a:blip>
              <a:stretch>
                <a:fillRect/>
              </a:stretch>
            </p:blipFill>
            <p:spPr>
              <a:xfrm>
                <a:off x="1126435" y="635000"/>
                <a:ext cx="9939130" cy="5587999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02ADE224-8678-45D8-82C0-24DC7DCD6068}">
  <we:reference id="4f6160f0-3339-47d0-9fd2-7d10a3e86c34" version="4.3.0.0" store="excatalog" storeType="excatalog"/>
  <we:alternateReferences>
    <we:reference id="WA104379261" version="4.3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16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r_alagappanmanimaran@fanshaweonline.ca</dc:creator>
  <cp:revision>106</cp:revision>
  <dcterms:modified xsi:type="dcterms:W3CDTF">2026-03-29T07:47:00Z</dcterms:modified>
</cp:coreProperties>
</file>